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2" r:id="rId3"/>
    <p:sldId id="273" r:id="rId4"/>
    <p:sldId id="257" r:id="rId5"/>
    <p:sldId id="262" r:id="rId6"/>
    <p:sldId id="274" r:id="rId7"/>
    <p:sldId id="275" r:id="rId8"/>
    <p:sldId id="258" r:id="rId9"/>
    <p:sldId id="263" r:id="rId10"/>
    <p:sldId id="259" r:id="rId11"/>
    <p:sldId id="264" r:id="rId12"/>
    <p:sldId id="260" r:id="rId13"/>
    <p:sldId id="265" r:id="rId14"/>
    <p:sldId id="261" r:id="rId15"/>
    <p:sldId id="266" r:id="rId16"/>
    <p:sldId id="267" r:id="rId17"/>
    <p:sldId id="268" r:id="rId18"/>
    <p:sldId id="269" r:id="rId19"/>
    <p:sldId id="270" r:id="rId20"/>
    <p:sldId id="271" r:id="rId21"/>
    <p:sldId id="276" r:id="rId22"/>
    <p:sldId id="277" r:id="rId23"/>
    <p:sldId id="278" r:id="rId24"/>
    <p:sldId id="280" r:id="rId25"/>
    <p:sldId id="27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4"/>
    <p:restoredTop sz="94672"/>
  </p:normalViewPr>
  <p:slideViewPr>
    <p:cSldViewPr snapToGrid="0">
      <p:cViewPr>
        <p:scale>
          <a:sx n="95" d="100"/>
          <a:sy n="95" d="100"/>
        </p:scale>
        <p:origin x="1208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5EEA-423C-E0FE-4883-E50278DE6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C61FF-5CCB-DA40-63F1-9CAEA66FD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F1129-B475-5DA9-2B63-78F9C6908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F60012-57F3-93C9-84C9-568BB5692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27746F-7D62-CAA7-BD43-BD24B4794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60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C1E9-07F2-D689-CE62-8A0B1F28C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7A116-83C1-8249-4A99-93F3EC9AF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80DD5-8F19-CF5F-62FA-DAC2DD423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0C379-6831-26EF-A941-74D166779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D581E-A3C4-B8B1-513A-71CB95D98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20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0DADA-3777-7217-9772-7313CDC0A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84F181-DA21-A568-E014-27028C565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0FF917-194F-F338-B603-F9A32B572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D3830F-D9D1-C6CB-808A-09DF263E2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7A03E-8383-AF1E-9BC6-8C7BD2B2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603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6FE1-9E95-3D37-164C-018953AC2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E7F42-9F6B-C8CE-D557-DFB5ED561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5D49C-BEE5-8A3F-0F41-73A3123EEF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75EEF-85E1-A96A-4126-7530EF897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1288F-BA3A-90AD-144B-2EA98B68A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CAD223-57A8-62E7-88BF-E1F655BC3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08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66ED-CF11-7B30-60A6-2A04D4F2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071A9-6B38-205F-C2E3-5BCCA04991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B36A6-B838-710D-2A57-0F435870CC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ABE98-3301-279E-126A-25EDA7231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A50FF9-DC11-0FAF-24DE-6EE7E55692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538988-D352-1804-0A5C-D0AFB719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DD56A9-4038-2EC1-EF54-8626B6A4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F322B-7F47-1822-E2C0-17CC68152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60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BFE3-50CF-7267-9C92-9132CFB0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B9576-F22E-7BFF-9182-59DEC9CF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5CA875-F21D-36B2-045D-896EA27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7C8B96-991A-8062-03FE-648C2AD3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13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DC2C96-C10F-B022-14AA-0C0127628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8DD86E-7D31-A20C-BF43-587A31CC2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18704-8A5D-37FC-C0A7-A343CE344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51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4F17D-2719-6885-2CC5-4215F32D02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FBE61-BF66-DB65-2E53-84E9ECE4D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64E47-AE24-E401-7EFD-BD6E482CB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3DA63-03C7-2F83-890C-6A671128A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E74036-7CBA-654A-06FD-61555E40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391AB-2806-A3D3-BB51-95851F7C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7133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81668-C149-6A33-15F9-9C2FD44D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C5CFFA-05D2-A953-3204-F1A4428FA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6969D-E0DE-9C94-A19A-FE4AD6E65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E115D-6CAE-C365-5073-DF786B9FF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9F6514-D1E4-E762-4B2E-4204D67CB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577A6-806A-F0D3-0F65-79E3E248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486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9BECA-3E8F-AF1E-9A46-882484FCD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77CB0-3DD9-3050-4015-27D695DAD3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90659-9C6B-EFC9-0E81-36FFD304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9DA91-81B6-5847-CF63-055E5C28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FBBEA-56BF-19CE-6321-D78752B6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084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14F97D-7361-BB2D-EA0B-BB04AE9863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611F1-6FAD-DA2F-F8B5-57BCCCD76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997A6-E9E1-52AA-2C59-2944B1B67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89818-5BE3-63AA-3713-AD391B81D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D280-1A33-890C-6B85-370A8BED4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04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75E64-F642-9CBC-AC4A-ECBE3BCC7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34A32-50BA-491D-8F00-9C082CB29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D4977-BE1F-24BF-A3B9-8943664BB4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125202-1768-C345-A262-DE2D8F67AF0E}" type="datetimeFigureOut">
              <a:rPr lang="en-US" smtClean="0"/>
              <a:t>8/7/25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DAD13-E44E-E51E-D921-1DC015F35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84409-2421-86F0-2D20-D6D704C6C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5F7E3E-781D-A942-B9CA-B2A45A98FB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24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1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2.mp4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media" Target="../media/media4.mp4"/><Relationship Id="rId7" Type="http://schemas.openxmlformats.org/officeDocument/2006/relationships/image" Target="../media/image17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16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4.mp4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1823-B09D-5631-C0EF-C8D0364F15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08/07</a:t>
            </a:r>
            <a:r>
              <a:rPr lang="en-US" dirty="0"/>
              <a:t>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4C82C-D3C3-DF23-A4A5-F834DCF92D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5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A3189-1FF1-B382-2A17-F32BA5580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of syllable usage between groups</a:t>
            </a:r>
          </a:p>
        </p:txBody>
      </p:sp>
      <p:pic>
        <p:nvPicPr>
          <p:cNvPr id="5" name="Content Placeholder 4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D6FA5D6C-5565-1908-B9E6-7649ACDA84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5696" y="1727474"/>
            <a:ext cx="7410782" cy="4443912"/>
          </a:xfrm>
        </p:spPr>
      </p:pic>
      <p:pic>
        <p:nvPicPr>
          <p:cNvPr id="7" name="Picture 6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89EB9907-9ABB-B4BB-A363-1698187AF1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982" y="1727474"/>
            <a:ext cx="3632200" cy="762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DAF2EF-6406-6B20-8025-9EF66D9AD67C}"/>
              </a:ext>
            </a:extLst>
          </p:cNvPr>
          <p:cNvSpPr txBox="1"/>
          <p:nvPr/>
        </p:nvSpPr>
        <p:spPr>
          <a:xfrm>
            <a:off x="8337222" y="2684118"/>
            <a:ext cx="34557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entropy in the context of syllable usage within a treatment group means that the distribution of syllable usage is highly concentrated or predictable.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other words, there is a few dominant that make up most of the usage, while the other syllables contribute very little. </a:t>
            </a:r>
          </a:p>
        </p:txBody>
      </p:sp>
    </p:spTree>
    <p:extLst>
      <p:ext uri="{BB962C8B-B14F-4D97-AF65-F5344CB8AC3E}">
        <p14:creationId xmlns:p14="http://schemas.microsoft.com/office/powerpoint/2010/main" val="3442589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5B4E4-82A1-B480-23B7-FE38675F3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Entropy of syllable usage in ketamine group</a:t>
            </a:r>
          </a:p>
        </p:txBody>
      </p:sp>
      <p:pic>
        <p:nvPicPr>
          <p:cNvPr id="9" name="Content Placeholder 8" descr="A graph of a bar chart&#10;&#10;AI-generated content may be incorrect.">
            <a:extLst>
              <a:ext uri="{FF2B5EF4-FFF2-40B4-BE49-F238E27FC236}">
                <a16:creationId xmlns:a16="http://schemas.microsoft.com/office/drawing/2014/main" id="{39E3B740-24F9-603D-B614-CB4C9052A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2685" y="1690688"/>
            <a:ext cx="7966629" cy="4728538"/>
          </a:xfrm>
        </p:spPr>
      </p:pic>
    </p:spTree>
    <p:extLst>
      <p:ext uri="{BB962C8B-B14F-4D97-AF65-F5344CB8AC3E}">
        <p14:creationId xmlns:p14="http://schemas.microsoft.com/office/powerpoint/2010/main" val="1641250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55DE-301C-F306-0802-0DBFAF6DF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C79869-36BD-EEE7-6EF6-4F80AB887C00}"/>
              </a:ext>
            </a:extLst>
          </p:cNvPr>
          <p:cNvSpPr txBox="1"/>
          <p:nvPr/>
        </p:nvSpPr>
        <p:spPr>
          <a:xfrm>
            <a:off x="916335" y="1687047"/>
            <a:ext cx="4633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 min after injection (</a:t>
            </a:r>
            <a:r>
              <a:rPr lang="en-US" dirty="0" err="1"/>
              <a:t>k_d</a:t>
            </a:r>
            <a:r>
              <a:rPr lang="en-US" dirty="0"/>
              <a:t>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  <p:pic>
        <p:nvPicPr>
          <p:cNvPr id="8" name="Content Placeholder 7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417B8C3B-7249-BA7D-1368-BC6662DBCB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335" y="2056379"/>
            <a:ext cx="10285750" cy="4351338"/>
          </a:xfrm>
        </p:spPr>
      </p:pic>
    </p:spTree>
    <p:extLst>
      <p:ext uri="{BB962C8B-B14F-4D97-AF65-F5344CB8AC3E}">
        <p14:creationId xmlns:p14="http://schemas.microsoft.com/office/powerpoint/2010/main" val="1240216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CCDFB-D906-36DC-7B44-FEEFB3703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8B077F-F935-380E-638D-CF36ABD574DB}"/>
              </a:ext>
            </a:extLst>
          </p:cNvPr>
          <p:cNvSpPr txBox="1"/>
          <p:nvPr/>
        </p:nvSpPr>
        <p:spPr>
          <a:xfrm>
            <a:off x="6416872" y="1575074"/>
            <a:ext cx="424617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</a:t>
            </a:r>
            <a:r>
              <a:rPr lang="en-US" dirty="0" err="1"/>
              <a:t>k_d</a:t>
            </a:r>
            <a:r>
              <a:rPr lang="en-US" dirty="0"/>
              <a:t>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10 min compared with the baseline group.</a:t>
            </a:r>
          </a:p>
          <a:p>
            <a:endParaRPr lang="en-US" dirty="0"/>
          </a:p>
          <a:p>
            <a:r>
              <a:rPr lang="en-US" dirty="0"/>
              <a:t>Benjamini-Hochberg’s method is used for the FDR.</a:t>
            </a:r>
          </a:p>
          <a:p>
            <a:endParaRPr lang="en-US" dirty="0"/>
          </a:p>
          <a:p>
            <a:r>
              <a:rPr lang="en-US" dirty="0"/>
              <a:t>30/49 syllables show significant difference between these two groups after the FDR adjustment.</a:t>
            </a:r>
          </a:p>
        </p:txBody>
      </p:sp>
      <p:pic>
        <p:nvPicPr>
          <p:cNvPr id="8" name="Content Placeholder 7" descr="A table of numbers with a number on it&#10;&#10;AI-generated content may be incorrect.">
            <a:extLst>
              <a:ext uri="{FF2B5EF4-FFF2-40B4-BE49-F238E27FC236}">
                <a16:creationId xmlns:a16="http://schemas.microsoft.com/office/drawing/2014/main" id="{B1458402-46A3-8C83-6D18-7120C5BEC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7546" y="1575074"/>
            <a:ext cx="4738577" cy="5041209"/>
          </a:xfrm>
        </p:spPr>
      </p:pic>
    </p:spTree>
    <p:extLst>
      <p:ext uri="{BB962C8B-B14F-4D97-AF65-F5344CB8AC3E}">
        <p14:creationId xmlns:p14="http://schemas.microsoft.com/office/powerpoint/2010/main" val="2441170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E9C2E-0C86-839B-57F9-2FE083D1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9273-85FA-7F9C-0BE3-FEB489357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pic>
        <p:nvPicPr>
          <p:cNvPr id="5" name="Content Placeholder 4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031E7255-857F-E943-32F0-8702902697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335" y="2141537"/>
            <a:ext cx="10359329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2E9901-235D-57DD-C2CA-8FCDBFBB33C1}"/>
              </a:ext>
            </a:extLst>
          </p:cNvPr>
          <p:cNvSpPr txBox="1"/>
          <p:nvPr/>
        </p:nvSpPr>
        <p:spPr>
          <a:xfrm>
            <a:off x="916335" y="1687047"/>
            <a:ext cx="4822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 Hour after injection (</a:t>
            </a:r>
            <a:r>
              <a:rPr lang="en-US" dirty="0" err="1"/>
              <a:t>k_dd</a:t>
            </a:r>
            <a:r>
              <a:rPr lang="en-US" dirty="0"/>
              <a:t>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82238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EB6EC-D84A-ECA9-445E-4DBDCA2DF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2DEC5-6760-D932-E064-34572318E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pic>
        <p:nvPicPr>
          <p:cNvPr id="5" name="Content Placeholder 4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056E5176-C78E-BBFB-3E3C-B9B37DDAE2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9884" y="1575074"/>
            <a:ext cx="4994432" cy="473830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CE36A0-0709-96F8-12C9-D9E8181E154A}"/>
              </a:ext>
            </a:extLst>
          </p:cNvPr>
          <p:cNvSpPr txBox="1"/>
          <p:nvPr/>
        </p:nvSpPr>
        <p:spPr>
          <a:xfrm>
            <a:off x="6416872" y="1575074"/>
            <a:ext cx="424617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</a:t>
            </a:r>
            <a:r>
              <a:rPr lang="en-US" dirty="0" err="1"/>
              <a:t>k_dd</a:t>
            </a:r>
            <a:r>
              <a:rPr lang="en-US" dirty="0"/>
              <a:t>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2 hours compared with the baseline group.</a:t>
            </a:r>
          </a:p>
          <a:p>
            <a:endParaRPr lang="en-US" dirty="0"/>
          </a:p>
          <a:p>
            <a:r>
              <a:rPr lang="en-US" dirty="0"/>
              <a:t>The p-value for syllable 35, 32, 47, 4, 28</a:t>
            </a:r>
          </a:p>
          <a:p>
            <a:r>
              <a:rPr lang="en-US" dirty="0"/>
              <a:t>42 is less than 0.05. However, the FDR p-values are all non-significant.</a:t>
            </a:r>
          </a:p>
          <a:p>
            <a:endParaRPr lang="en-US" dirty="0"/>
          </a:p>
          <a:p>
            <a:r>
              <a:rPr lang="en-US" dirty="0"/>
              <a:t>I used Benjamini-Hochberg’s method for the FDR</a:t>
            </a:r>
          </a:p>
        </p:txBody>
      </p:sp>
    </p:spTree>
    <p:extLst>
      <p:ext uri="{BB962C8B-B14F-4D97-AF65-F5344CB8AC3E}">
        <p14:creationId xmlns:p14="http://schemas.microsoft.com/office/powerpoint/2010/main" val="2491093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81B6C-B85A-78D8-89FE-4D6A49EF6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96FB6-B980-5102-0EF1-890503E35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335F92-AEC3-F945-67E0-7EB7B324CD5A}"/>
              </a:ext>
            </a:extLst>
          </p:cNvPr>
          <p:cNvSpPr txBox="1"/>
          <p:nvPr/>
        </p:nvSpPr>
        <p:spPr>
          <a:xfrm>
            <a:off x="916335" y="1687047"/>
            <a:ext cx="486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24 Hour after injection (k_24)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  <p:pic>
        <p:nvPicPr>
          <p:cNvPr id="8" name="Content Placeholder 7" descr="A graph with orange and blue lines&#10;&#10;AI-generated content may be incorrect.">
            <a:extLst>
              <a:ext uri="{FF2B5EF4-FFF2-40B4-BE49-F238E27FC236}">
                <a16:creationId xmlns:a16="http://schemas.microsoft.com/office/drawing/2014/main" id="{4195C9B3-F03C-2E5A-2F00-70BD5FCBE0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335" y="2175281"/>
            <a:ext cx="10515600" cy="4317594"/>
          </a:xfrm>
        </p:spPr>
      </p:pic>
    </p:spTree>
    <p:extLst>
      <p:ext uri="{BB962C8B-B14F-4D97-AF65-F5344CB8AC3E}">
        <p14:creationId xmlns:p14="http://schemas.microsoft.com/office/powerpoint/2010/main" val="3149775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15C34-EAA3-C96E-733D-B4AE729EB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8D76B-AC67-CA73-CD8D-722E2C0CC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21B5E7-22F0-1375-7A1A-71F5E758AEFF}"/>
              </a:ext>
            </a:extLst>
          </p:cNvPr>
          <p:cNvSpPr txBox="1"/>
          <p:nvPr/>
        </p:nvSpPr>
        <p:spPr>
          <a:xfrm>
            <a:off x="6096000" y="1606854"/>
            <a:ext cx="4246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k_24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24 hours compared with the baseline group.</a:t>
            </a:r>
          </a:p>
          <a:p>
            <a:endParaRPr lang="en-US" dirty="0"/>
          </a:p>
          <a:p>
            <a:r>
              <a:rPr lang="en-US" dirty="0"/>
              <a:t>None of the syllable has significant usage difference.</a:t>
            </a:r>
          </a:p>
        </p:txBody>
      </p:sp>
      <p:pic>
        <p:nvPicPr>
          <p:cNvPr id="12" name="Content Placeholder 11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193C80EA-1D3B-F815-58F3-FC97F842BA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77951"/>
            <a:ext cx="4816366" cy="4713091"/>
          </a:xfrm>
        </p:spPr>
      </p:pic>
    </p:spTree>
    <p:extLst>
      <p:ext uri="{BB962C8B-B14F-4D97-AF65-F5344CB8AC3E}">
        <p14:creationId xmlns:p14="http://schemas.microsoft.com/office/powerpoint/2010/main" val="56448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5E154-7938-A35A-7551-2985D9CB1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9ACF7-BCD5-78F1-AEBB-01BCF0C77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4EA828-0303-C1C1-EE85-9687C49D72CA}"/>
              </a:ext>
            </a:extLst>
          </p:cNvPr>
          <p:cNvSpPr txBox="1"/>
          <p:nvPr/>
        </p:nvSpPr>
        <p:spPr>
          <a:xfrm>
            <a:off x="916335" y="1687047"/>
            <a:ext cx="486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48 Hour after injection (k_48)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  <p:pic>
        <p:nvPicPr>
          <p:cNvPr id="7" name="Content Placeholder 6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C2213771-ED7F-ADDD-5C3D-F38407D9FB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64776"/>
            <a:ext cx="10515600" cy="4328099"/>
          </a:xfrm>
        </p:spPr>
      </p:pic>
    </p:spTree>
    <p:extLst>
      <p:ext uri="{BB962C8B-B14F-4D97-AF65-F5344CB8AC3E}">
        <p14:creationId xmlns:p14="http://schemas.microsoft.com/office/powerpoint/2010/main" val="121067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FCD17-A445-1EA4-BBD4-FF291DA27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35D17-BCF9-D8EC-61F2-A53B3B73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B10FD9-4D40-BA3F-A793-EAF6C79B659F}"/>
              </a:ext>
            </a:extLst>
          </p:cNvPr>
          <p:cNvSpPr txBox="1"/>
          <p:nvPr/>
        </p:nvSpPr>
        <p:spPr>
          <a:xfrm>
            <a:off x="6096000" y="1606854"/>
            <a:ext cx="4246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k_48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48 hours compared with the baseline group.</a:t>
            </a:r>
          </a:p>
          <a:p>
            <a:endParaRPr lang="en-US" dirty="0"/>
          </a:p>
          <a:p>
            <a:r>
              <a:rPr lang="en-US" dirty="0"/>
              <a:t>Syllable 32 has a p-value less than 0.05, but FDR p-value is non-significant.</a:t>
            </a:r>
          </a:p>
        </p:txBody>
      </p:sp>
      <p:pic>
        <p:nvPicPr>
          <p:cNvPr id="7" name="Content Placeholder 6" descr="A table of numbers and letters&#10;&#10;AI-generated content may be incorrect.">
            <a:extLst>
              <a:ext uri="{FF2B5EF4-FFF2-40B4-BE49-F238E27FC236}">
                <a16:creationId xmlns:a16="http://schemas.microsoft.com/office/drawing/2014/main" id="{50720248-95CE-BA4A-392E-AC7315FA81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3920" y="1606853"/>
            <a:ext cx="4782619" cy="4688843"/>
          </a:xfrm>
        </p:spPr>
      </p:pic>
    </p:spTree>
    <p:extLst>
      <p:ext uri="{BB962C8B-B14F-4D97-AF65-F5344CB8AC3E}">
        <p14:creationId xmlns:p14="http://schemas.microsoft.com/office/powerpoint/2010/main" val="2069835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D0825-57E2-A593-D5C8-EEA2FE572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CA94-4F9F-06AA-AF0D-8FDE81A0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Usage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E179A-3BAA-5CA3-AB79-1A0D0DC610FF}"/>
              </a:ext>
            </a:extLst>
          </p:cNvPr>
          <p:cNvSpPr txBox="1"/>
          <p:nvPr/>
        </p:nvSpPr>
        <p:spPr>
          <a:xfrm>
            <a:off x="916335" y="1687047"/>
            <a:ext cx="48674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72 Hour after injection (k_72) vs Baseline (</a:t>
            </a:r>
            <a:r>
              <a:rPr lang="en-US" dirty="0" err="1"/>
              <a:t>k_bb</a:t>
            </a:r>
            <a:r>
              <a:rPr lang="en-US" dirty="0"/>
              <a:t>)</a:t>
            </a:r>
          </a:p>
        </p:txBody>
      </p:sp>
      <p:pic>
        <p:nvPicPr>
          <p:cNvPr id="8" name="Content Placeholder 7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0E4A8448-6E98-4ED9-8754-C71036C92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6335" y="2141537"/>
            <a:ext cx="10287806" cy="4351338"/>
          </a:xfrm>
        </p:spPr>
      </p:pic>
    </p:spTree>
    <p:extLst>
      <p:ext uri="{BB962C8B-B14F-4D97-AF65-F5344CB8AC3E}">
        <p14:creationId xmlns:p14="http://schemas.microsoft.com/office/powerpoint/2010/main" val="3011089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D4E0B-2ADB-D0ED-DD83-C2BD1E184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A1DE6-9E59-FA13-436F-5A9BA38F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t-test with FDR adjusted p-value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CCF059-751B-894E-925A-C5059CA56D88}"/>
              </a:ext>
            </a:extLst>
          </p:cNvPr>
          <p:cNvSpPr txBox="1"/>
          <p:nvPr/>
        </p:nvSpPr>
        <p:spPr>
          <a:xfrm>
            <a:off x="6096000" y="1606854"/>
            <a:ext cx="424617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Syllable test between k_72 group and </a:t>
            </a:r>
            <a:r>
              <a:rPr lang="en-US" dirty="0" err="1"/>
              <a:t>k_bb</a:t>
            </a:r>
            <a:r>
              <a:rPr lang="en-US" dirty="0"/>
              <a:t> group, which is the ketamine injection group after 72 hours compared with the baseline group.</a:t>
            </a:r>
          </a:p>
          <a:p>
            <a:endParaRPr lang="en-US" dirty="0"/>
          </a:p>
          <a:p>
            <a:r>
              <a:rPr lang="en-US" dirty="0"/>
              <a:t>None of the syllable has significant usage difference.</a:t>
            </a:r>
          </a:p>
        </p:txBody>
      </p:sp>
      <p:pic>
        <p:nvPicPr>
          <p:cNvPr id="8" name="Content Placeholder 7" descr="A table of numbers with black text&#10;&#10;AI-generated content may be incorrect.">
            <a:extLst>
              <a:ext uri="{FF2B5EF4-FFF2-40B4-BE49-F238E27FC236}">
                <a16:creationId xmlns:a16="http://schemas.microsoft.com/office/drawing/2014/main" id="{DCF64463-428D-F7C3-FBBC-72E579FC5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678" y="1533282"/>
            <a:ext cx="4817729" cy="4770124"/>
          </a:xfrm>
        </p:spPr>
      </p:pic>
    </p:spTree>
    <p:extLst>
      <p:ext uri="{BB962C8B-B14F-4D97-AF65-F5344CB8AC3E}">
        <p14:creationId xmlns:p14="http://schemas.microsoft.com/office/powerpoint/2010/main" val="414579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340B-D95B-1E1E-D3FE-195B02A6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Syllable </a:t>
            </a:r>
            <a:r>
              <a:rPr lang="en-US" altLang="zh-CN" dirty="0"/>
              <a:t>32                             </a:t>
            </a:r>
            <a:r>
              <a:rPr lang="en-US" dirty="0"/>
              <a:t>Syllable </a:t>
            </a:r>
            <a:r>
              <a:rPr lang="en-US" altLang="zh-CN" dirty="0"/>
              <a:t>35</a:t>
            </a:r>
            <a:endParaRPr lang="en-US" dirty="0"/>
          </a:p>
        </p:txBody>
      </p:sp>
      <p:pic>
        <p:nvPicPr>
          <p:cNvPr id="7" name="syllable_sorted-id-32_(usage)_original-id-05">
            <a:hlinkClick r:id="" action="ppaction://media"/>
            <a:extLst>
              <a:ext uri="{FF2B5EF4-FFF2-40B4-BE49-F238E27FC236}">
                <a16:creationId xmlns:a16="http://schemas.microsoft.com/office/drawing/2014/main" id="{6C931E6D-5642-2FB1-B8D6-584794C59EAB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8200" y="1690687"/>
            <a:ext cx="4632409" cy="4632409"/>
          </a:xfrm>
        </p:spPr>
      </p:pic>
      <p:pic>
        <p:nvPicPr>
          <p:cNvPr id="8" name="syllable_sorted-id-35_(usage)_original-id-17">
            <a:hlinkClick r:id="" action="ppaction://media"/>
            <a:extLst>
              <a:ext uri="{FF2B5EF4-FFF2-40B4-BE49-F238E27FC236}">
                <a16:creationId xmlns:a16="http://schemas.microsoft.com/office/drawing/2014/main" id="{90EDF4C7-959E-EF56-340A-0003EAB4962C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529317" y="1690687"/>
            <a:ext cx="4632409" cy="4632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68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6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6340B-D95B-1E1E-D3FE-195B02A61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Syllable 47</a:t>
            </a:r>
            <a:r>
              <a:rPr lang="en-US" altLang="zh-CN" dirty="0"/>
              <a:t>                             </a:t>
            </a:r>
            <a:r>
              <a:rPr lang="en-US" dirty="0"/>
              <a:t>Syllable 4</a:t>
            </a:r>
          </a:p>
        </p:txBody>
      </p:sp>
      <p:pic>
        <p:nvPicPr>
          <p:cNvPr id="5" name="syllable_sorted-id-47_(usage)_original-id-48">
            <a:hlinkClick r:id="" action="ppaction://media"/>
            <a:extLst>
              <a:ext uri="{FF2B5EF4-FFF2-40B4-BE49-F238E27FC236}">
                <a16:creationId xmlns:a16="http://schemas.microsoft.com/office/drawing/2014/main" id="{DC09F5AA-938C-6866-B8A5-966DCDB2344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30276" y="1690688"/>
            <a:ext cx="4632408" cy="4632408"/>
          </a:xfrm>
        </p:spPr>
      </p:pic>
      <p:pic>
        <p:nvPicPr>
          <p:cNvPr id="6" name="syllable_sorted-id-04_(usage)_original-id-18">
            <a:hlinkClick r:id="" action="ppaction://media"/>
            <a:extLst>
              <a:ext uri="{FF2B5EF4-FFF2-40B4-BE49-F238E27FC236}">
                <a16:creationId xmlns:a16="http://schemas.microsoft.com/office/drawing/2014/main" id="{CABCDFB3-693D-D554-E860-45CAF2C4798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529317" y="1690689"/>
            <a:ext cx="4632407" cy="4632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575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6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26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7764B-73C7-5669-B8B9-383637D3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32 trend in the ketamine group (Grooming)</a:t>
            </a:r>
          </a:p>
        </p:txBody>
      </p:sp>
      <p:pic>
        <p:nvPicPr>
          <p:cNvPr id="5" name="Content Placeholder 4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ADD3C540-D5DA-533C-7339-D8CAD97A3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6440"/>
            <a:ext cx="7104727" cy="4351338"/>
          </a:xfrm>
        </p:spPr>
      </p:pic>
    </p:spTree>
    <p:extLst>
      <p:ext uri="{BB962C8B-B14F-4D97-AF65-F5344CB8AC3E}">
        <p14:creationId xmlns:p14="http://schemas.microsoft.com/office/powerpoint/2010/main" val="15575703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CE815-9E79-94BD-EC3E-4A24B49B2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35 trend in the ketamine group</a:t>
            </a:r>
          </a:p>
        </p:txBody>
      </p:sp>
      <p:pic>
        <p:nvPicPr>
          <p:cNvPr id="5" name="Content Placeholder 4" descr="A graph with blue lines and numbers&#10;&#10;AI-generated content may be incorrect.">
            <a:extLst>
              <a:ext uri="{FF2B5EF4-FFF2-40B4-BE49-F238E27FC236}">
                <a16:creationId xmlns:a16="http://schemas.microsoft.com/office/drawing/2014/main" id="{8CCB24D0-5BF6-6813-3B6D-B50D1AAF6C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71924"/>
            <a:ext cx="7206903" cy="4351338"/>
          </a:xfrm>
        </p:spPr>
      </p:pic>
    </p:spTree>
    <p:extLst>
      <p:ext uri="{BB962C8B-B14F-4D97-AF65-F5344CB8AC3E}">
        <p14:creationId xmlns:p14="http://schemas.microsoft.com/office/powerpoint/2010/main" val="1732157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E88FC-0ECC-D1B0-2C1E-E853B5068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47 trend in the ketamine group</a:t>
            </a:r>
            <a:br>
              <a:rPr lang="en-US" dirty="0"/>
            </a:br>
            <a:r>
              <a:rPr lang="en-US" dirty="0"/>
              <a:t>(rearing)</a:t>
            </a:r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FA74E9AC-BCAF-8FE0-F595-36E6F9F35B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141537"/>
            <a:ext cx="7422139" cy="4351338"/>
          </a:xfrm>
        </p:spPr>
      </p:pic>
    </p:spTree>
    <p:extLst>
      <p:ext uri="{BB962C8B-B14F-4D97-AF65-F5344CB8AC3E}">
        <p14:creationId xmlns:p14="http://schemas.microsoft.com/office/powerpoint/2010/main" val="24422728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2D42-FB3F-CDCA-FB14-AB20F613A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Syllable 4 trend in the ketamine group</a:t>
            </a:r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E3E03C2B-71BE-4385-89AE-F7091B6713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1720"/>
            <a:ext cx="7215664" cy="4351338"/>
          </a:xfrm>
        </p:spPr>
      </p:pic>
    </p:spTree>
    <p:extLst>
      <p:ext uri="{BB962C8B-B14F-4D97-AF65-F5344CB8AC3E}">
        <p14:creationId xmlns:p14="http://schemas.microsoft.com/office/powerpoint/2010/main" val="81241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819FA-34AF-68B2-1A84-783508A7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Matrix</a:t>
            </a:r>
          </a:p>
        </p:txBody>
      </p:sp>
      <p:pic>
        <p:nvPicPr>
          <p:cNvPr id="5" name="Content Placeholder 4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0B05978D-01FB-5A14-779D-AB425EAD7E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247" y="1831530"/>
            <a:ext cx="5654595" cy="4802187"/>
          </a:xfrm>
        </p:spPr>
      </p:pic>
      <p:pic>
        <p:nvPicPr>
          <p:cNvPr id="7" name="Picture 6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789F1FB2-116E-616C-9451-3BAC5E358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1842" y="1831531"/>
            <a:ext cx="5654596" cy="4802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5998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AF639-ECB1-4A26-0167-0AECB4297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D0F2A-7F39-4F12-7FF5-B7EE4FE6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Matrix</a:t>
            </a:r>
          </a:p>
        </p:txBody>
      </p:sp>
      <p:pic>
        <p:nvPicPr>
          <p:cNvPr id="10" name="Content Placeholder 9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99AA0035-541D-FCE3-FBDA-B5ED144671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9015" y="1773329"/>
            <a:ext cx="5655518" cy="4802970"/>
          </a:xfrm>
        </p:spPr>
      </p:pic>
      <p:pic>
        <p:nvPicPr>
          <p:cNvPr id="12" name="Picture 11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0677294E-09D0-09EA-7B59-3144842A10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533" y="1773329"/>
            <a:ext cx="5655519" cy="480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449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B7D86-ED60-9C37-D38E-BE534203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4267-FA76-0D7C-B2E4-62D4B8FBE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Matrix</a:t>
            </a:r>
          </a:p>
        </p:txBody>
      </p:sp>
      <p:pic>
        <p:nvPicPr>
          <p:cNvPr id="6" name="Content Placeholder 5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AB096A39-7165-DDA0-8467-07DE0E582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6551" y="1690688"/>
            <a:ext cx="5489448" cy="4661935"/>
          </a:xfrm>
        </p:spPr>
      </p:pic>
      <p:pic>
        <p:nvPicPr>
          <p:cNvPr id="8" name="Picture 7" descr="A screenshot of a computer generated image&#10;&#10;AI-generated content may be incorrect.">
            <a:extLst>
              <a:ext uri="{FF2B5EF4-FFF2-40B4-BE49-F238E27FC236}">
                <a16:creationId xmlns:a16="http://schemas.microsoft.com/office/drawing/2014/main" id="{F180F8FD-D82E-8754-30F2-0EECF6F81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5489449" cy="466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6034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7CE3E-595F-D635-106B-F5D69D93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Currently trained 5 models with different hyperparameters</a:t>
            </a:r>
            <a:br>
              <a:rPr lang="en-US" sz="2800" dirty="0"/>
            </a:br>
            <a:r>
              <a:rPr lang="en-US" sz="2800" dirty="0"/>
              <a:t>(kappa values, max-states) to choose the best model possible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CAD9F0-6E5F-7FF7-AFDA-9B6EDAA4A9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moseq2-model learn-model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/_</a:t>
            </a:r>
            <a:r>
              <a:rPr lang="en-US" dirty="0" err="1"/>
              <a:t>pca</a:t>
            </a:r>
            <a:r>
              <a:rPr lang="en-US" dirty="0"/>
              <a:t>/pca_scores.h5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/models/model-000-100000.p --</a:t>
            </a:r>
            <a:r>
              <a:rPr lang="en-US" dirty="0" err="1"/>
              <a:t>npcs</a:t>
            </a:r>
            <a:r>
              <a:rPr lang="en-US" dirty="0"/>
              <a:t> 13 --num-iter 100 -</a:t>
            </a:r>
            <a:r>
              <a:rPr lang="en-US" dirty="0" err="1"/>
              <a:t>i</a:t>
            </a:r>
            <a:r>
              <a:rPr lang="en-US" dirty="0"/>
              <a:t>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/moseq2-index.yaml --robust --hold-out --</a:t>
            </a:r>
            <a:r>
              <a:rPr lang="en-US" dirty="0" err="1"/>
              <a:t>nfolds</a:t>
            </a:r>
            <a:r>
              <a:rPr lang="en-US" dirty="0"/>
              <a:t> 2 --max-states 25 --kappa 100000</a:t>
            </a:r>
          </a:p>
          <a:p>
            <a:r>
              <a:rPr lang="en-US" dirty="0"/>
              <a:t>moseq2-model learn-model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/_</a:t>
            </a:r>
            <a:r>
              <a:rPr lang="en-US" dirty="0" err="1"/>
              <a:t>pca</a:t>
            </a:r>
            <a:r>
              <a:rPr lang="en-US" dirty="0"/>
              <a:t>/pca_scores.h5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/models/model-001-1000000.p --</a:t>
            </a:r>
            <a:r>
              <a:rPr lang="en-US" dirty="0" err="1"/>
              <a:t>npcs</a:t>
            </a:r>
            <a:r>
              <a:rPr lang="en-US" dirty="0"/>
              <a:t> 13 --num-iter 100 -</a:t>
            </a:r>
            <a:r>
              <a:rPr lang="en-US" dirty="0" err="1"/>
              <a:t>i</a:t>
            </a:r>
            <a:r>
              <a:rPr lang="en-US" dirty="0"/>
              <a:t>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/moseq2-index.yaml --robust --hold-out --</a:t>
            </a:r>
            <a:r>
              <a:rPr lang="en-US" dirty="0" err="1"/>
              <a:t>nfolds</a:t>
            </a:r>
            <a:r>
              <a:rPr lang="en-US" dirty="0"/>
              <a:t> 2 --max-states 25 --kappa 1000000</a:t>
            </a:r>
          </a:p>
          <a:p>
            <a:r>
              <a:rPr lang="en-US" dirty="0"/>
              <a:t>moseq2-model learn-model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/_</a:t>
            </a:r>
            <a:r>
              <a:rPr lang="en-US" dirty="0" err="1"/>
              <a:t>pca</a:t>
            </a:r>
            <a:r>
              <a:rPr lang="en-US" dirty="0"/>
              <a:t>/pca_scores.h5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/models/model-002-10000000.p --</a:t>
            </a:r>
            <a:r>
              <a:rPr lang="en-US" dirty="0" err="1"/>
              <a:t>npcs</a:t>
            </a:r>
            <a:r>
              <a:rPr lang="en-US" dirty="0"/>
              <a:t> 13 --num-iter 100 -</a:t>
            </a:r>
            <a:r>
              <a:rPr lang="en-US" dirty="0" err="1"/>
              <a:t>i</a:t>
            </a:r>
            <a:r>
              <a:rPr lang="en-US" dirty="0"/>
              <a:t>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/moseq2-index.yaml --robust --hold-out --</a:t>
            </a:r>
            <a:r>
              <a:rPr lang="en-US" dirty="0" err="1"/>
              <a:t>nfolds</a:t>
            </a:r>
            <a:r>
              <a:rPr lang="en-US" dirty="0"/>
              <a:t> 2 --max-states 25 --kappa 10000000</a:t>
            </a:r>
          </a:p>
          <a:p>
            <a:r>
              <a:rPr lang="en-US" dirty="0"/>
              <a:t>moseq2-model learn-model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/_</a:t>
            </a:r>
            <a:r>
              <a:rPr lang="en-US" dirty="0" err="1"/>
              <a:t>pca</a:t>
            </a:r>
            <a:r>
              <a:rPr lang="en-US" dirty="0"/>
              <a:t>/pca_scores.h5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/models/model-003-100000000.p --</a:t>
            </a:r>
            <a:r>
              <a:rPr lang="en-US" dirty="0" err="1"/>
              <a:t>npcs</a:t>
            </a:r>
            <a:r>
              <a:rPr lang="en-US" dirty="0"/>
              <a:t> 13 --num-iter 100 -</a:t>
            </a:r>
            <a:r>
              <a:rPr lang="en-US" dirty="0" err="1"/>
              <a:t>i</a:t>
            </a:r>
            <a:r>
              <a:rPr lang="en-US" dirty="0"/>
              <a:t>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/moseq2-index.yaml --robust --hold-out --</a:t>
            </a:r>
            <a:r>
              <a:rPr lang="en-US" dirty="0" err="1"/>
              <a:t>nfolds</a:t>
            </a:r>
            <a:r>
              <a:rPr lang="en-US" dirty="0"/>
              <a:t> 2 --max-states 25 --kappa 100000000</a:t>
            </a:r>
          </a:p>
          <a:p>
            <a:r>
              <a:rPr lang="en-US" dirty="0"/>
              <a:t>moseq2-model learn-model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/_</a:t>
            </a:r>
            <a:r>
              <a:rPr lang="en-US" dirty="0" err="1"/>
              <a:t>pca</a:t>
            </a:r>
            <a:r>
              <a:rPr lang="en-US" dirty="0"/>
              <a:t>/pca_scores.h5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/models/model-004-1000000000.p --</a:t>
            </a:r>
            <a:r>
              <a:rPr lang="en-US" dirty="0" err="1"/>
              <a:t>npcs</a:t>
            </a:r>
            <a:r>
              <a:rPr lang="en-US" dirty="0"/>
              <a:t> 13 --num-iter 100 -</a:t>
            </a:r>
            <a:r>
              <a:rPr lang="en-US" dirty="0" err="1"/>
              <a:t>i</a:t>
            </a:r>
            <a:r>
              <a:rPr lang="en-US" dirty="0"/>
              <a:t> /</a:t>
            </a:r>
            <a:r>
              <a:rPr lang="en-US" dirty="0" err="1"/>
              <a:t>mnt</a:t>
            </a:r>
            <a:r>
              <a:rPr lang="en-US" dirty="0"/>
              <a:t>/z/Lab/</a:t>
            </a:r>
            <a:r>
              <a:rPr lang="en-US" dirty="0" err="1"/>
              <a:t>Mohan_public</a:t>
            </a:r>
            <a:r>
              <a:rPr lang="en-US" dirty="0"/>
              <a:t>/</a:t>
            </a:r>
            <a:r>
              <a:rPr lang="en-US" dirty="0" err="1"/>
              <a:t>Moseq_Ketamine_data</a:t>
            </a:r>
            <a:r>
              <a:rPr lang="en-US" dirty="0"/>
              <a:t>/moseq2-index.yaml --robust --hold-out --</a:t>
            </a:r>
            <a:r>
              <a:rPr lang="en-US" dirty="0" err="1"/>
              <a:t>nfolds</a:t>
            </a:r>
            <a:r>
              <a:rPr lang="en-US" dirty="0"/>
              <a:t> 2 --max-states 25 --kappa 1000000000</a:t>
            </a:r>
          </a:p>
        </p:txBody>
      </p:sp>
    </p:spTree>
    <p:extLst>
      <p:ext uri="{BB962C8B-B14F-4D97-AF65-F5344CB8AC3E}">
        <p14:creationId xmlns:p14="http://schemas.microsoft.com/office/powerpoint/2010/main" val="3187588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09B9A-F63C-5E58-AF8B-3E6822067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Purple model matched the PCA closely</a:t>
            </a:r>
            <a:br>
              <a:rPr lang="en-US" dirty="0"/>
            </a:br>
            <a:r>
              <a:rPr lang="en-US" dirty="0"/>
              <a:t>(kappa = 1e+08 is the best)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7D6FF-6254-66CB-C63E-45F8FDD5E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4D197551-D856-1DFC-C548-1B94D50EC0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25" b="587"/>
          <a:stretch>
            <a:fillRect/>
          </a:stretch>
        </p:blipFill>
        <p:spPr>
          <a:xfrm>
            <a:off x="838200" y="1825625"/>
            <a:ext cx="10256520" cy="466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151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BD23-ECC7-8AD8-8EA1-72DC6958D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Training Time</a:t>
            </a:r>
          </a:p>
        </p:txBody>
      </p:sp>
      <p:pic>
        <p:nvPicPr>
          <p:cNvPr id="5" name="Content Placeholder 4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77A7711C-4BBD-9901-7F1D-96EE1D83D3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3544" y="1690688"/>
            <a:ext cx="6112593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03B533D-A682-4181-52A7-C6896C35AB2F}"/>
              </a:ext>
            </a:extLst>
          </p:cNvPr>
          <p:cNvSpPr txBox="1"/>
          <p:nvPr/>
        </p:nvSpPr>
        <p:spPr>
          <a:xfrm>
            <a:off x="7597816" y="1690688"/>
            <a:ext cx="36706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models with each 100 iterations took 700 minutes.</a:t>
            </a:r>
          </a:p>
          <a:p>
            <a:endParaRPr lang="en-US" dirty="0"/>
          </a:p>
          <a:p>
            <a:r>
              <a:rPr lang="en-US" dirty="0"/>
              <a:t>Moseq recommends training the final model with 1000 iterations.</a:t>
            </a:r>
          </a:p>
          <a:p>
            <a:endParaRPr lang="en-US" dirty="0"/>
          </a:p>
          <a:p>
            <a:r>
              <a:rPr lang="en-US" dirty="0"/>
              <a:t>If 500 iterations took 700 minutes, 1000 iterations will take approximately 1400 minutes.</a:t>
            </a:r>
          </a:p>
          <a:p>
            <a:endParaRPr lang="en-US" dirty="0"/>
          </a:p>
          <a:p>
            <a:r>
              <a:rPr lang="en-US" dirty="0"/>
              <a:t>Currently training </a:t>
            </a:r>
            <a:r>
              <a:rPr lang="en-US"/>
              <a:t>the model </a:t>
            </a:r>
            <a:r>
              <a:rPr lang="en-US" dirty="0"/>
              <a:t>with kappa = 1e+08, max state = 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2138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1000</Words>
  <Application>Microsoft Macintosh PowerPoint</Application>
  <PresentationFormat>Widescreen</PresentationFormat>
  <Paragraphs>65</Paragraphs>
  <Slides>25</Slides>
  <Notes>0</Notes>
  <HiddenSlides>0</HiddenSlides>
  <MMClips>4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08/07 Update</vt:lpstr>
      <vt:lpstr>Entropy of syllable usage between groups</vt:lpstr>
      <vt:lpstr>Entropy of syllable usage in ketamine group</vt:lpstr>
      <vt:lpstr>Syllable Usage</vt:lpstr>
      <vt:lpstr>Syllable t-test with FDR adjusted p-value</vt:lpstr>
      <vt:lpstr>Syllable Usage</vt:lpstr>
      <vt:lpstr>Syllable t-test with FDR adjusted p-value</vt:lpstr>
      <vt:lpstr>Syllable Usage</vt:lpstr>
      <vt:lpstr>Syllable t-test with FDR adjusted p-value</vt:lpstr>
      <vt:lpstr>Syllable Usage</vt:lpstr>
      <vt:lpstr>Syllable t-test with FDR adjusted p-value</vt:lpstr>
      <vt:lpstr>Syllable Usage</vt:lpstr>
      <vt:lpstr>Syllable t-test with FDR adjusted p-value</vt:lpstr>
      <vt:lpstr>        Syllable 32                             Syllable 35</vt:lpstr>
      <vt:lpstr>        Syllable 47                             Syllable 4</vt:lpstr>
      <vt:lpstr>Syllable 32 trend in the ketamine group (Grooming)</vt:lpstr>
      <vt:lpstr>Syllable 35 trend in the ketamine group</vt:lpstr>
      <vt:lpstr>Syllable 47 trend in the ketamine group (rearing)</vt:lpstr>
      <vt:lpstr>Syllable 4 trend in the ketamine group</vt:lpstr>
      <vt:lpstr>Transition Matrix</vt:lpstr>
      <vt:lpstr>Transition Matrix</vt:lpstr>
      <vt:lpstr>Transition Matrix</vt:lpstr>
      <vt:lpstr>Currently trained 5 models with different hyperparameters (kappa values, max-states) to choose the best model possible</vt:lpstr>
      <vt:lpstr>Purple model matched the PCA closely (kappa = 1e+08 is the best)</vt:lpstr>
      <vt:lpstr>Training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YangMohan</dc:creator>
  <cp:lastModifiedBy>YangMohan</cp:lastModifiedBy>
  <cp:revision>28</cp:revision>
  <dcterms:created xsi:type="dcterms:W3CDTF">2025-06-24T16:49:45Z</dcterms:created>
  <dcterms:modified xsi:type="dcterms:W3CDTF">2025-08-08T18:19:52Z</dcterms:modified>
</cp:coreProperties>
</file>