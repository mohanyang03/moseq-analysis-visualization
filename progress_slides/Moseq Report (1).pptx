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4" r:id="rId3"/>
    <p:sldId id="295" r:id="rId4"/>
    <p:sldId id="290" r:id="rId5"/>
    <p:sldId id="291" r:id="rId6"/>
    <p:sldId id="265" r:id="rId7"/>
    <p:sldId id="292" r:id="rId8"/>
    <p:sldId id="257" r:id="rId9"/>
    <p:sldId id="274" r:id="rId10"/>
    <p:sldId id="275" r:id="rId11"/>
    <p:sldId id="276" r:id="rId12"/>
    <p:sldId id="277" r:id="rId13"/>
    <p:sldId id="262" r:id="rId14"/>
    <p:sldId id="279" r:id="rId15"/>
    <p:sldId id="280" r:id="rId16"/>
    <p:sldId id="281" r:id="rId17"/>
    <p:sldId id="282" r:id="rId18"/>
    <p:sldId id="261" r:id="rId19"/>
    <p:sldId id="272" r:id="rId20"/>
    <p:sldId id="285" r:id="rId21"/>
    <p:sldId id="268" r:id="rId22"/>
    <p:sldId id="269" r:id="rId23"/>
    <p:sldId id="289" r:id="rId24"/>
    <p:sldId id="287" r:id="rId25"/>
    <p:sldId id="288" r:id="rId26"/>
    <p:sldId id="296" r:id="rId27"/>
    <p:sldId id="299" r:id="rId28"/>
    <p:sldId id="297" r:id="rId29"/>
    <p:sldId id="298" r:id="rId30"/>
    <p:sldId id="286" r:id="rId31"/>
    <p:sldId id="29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66" autoAdjust="0"/>
    <p:restoredTop sz="94755"/>
  </p:normalViewPr>
  <p:slideViewPr>
    <p:cSldViewPr snapToGrid="0">
      <p:cViewPr varScale="1">
        <p:scale>
          <a:sx n="93" d="100"/>
          <a:sy n="93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4:01.435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4:03.976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4:10.15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4:11.48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44:55.599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44:57.940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45:00.34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1:51.918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1:53.464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2:01.526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2:08.689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2:29.118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8:19:32.331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8:21:30.443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8:27:56.80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8:29:11.42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8:40:32.74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7:19.49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7:21.53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7:24.58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49:52.897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0:05.640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0:10.744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8:40:22.19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9:14.77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9:23.98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39:25.27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0,'0'0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1:07.714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1:13.222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1 1,'0'0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8T23:51:14.181"/>
    </inkml:context>
    <inkml:brush xml:id="br0">
      <inkml:brushProperty name="width" value="0.3" units="cm"/>
      <inkml:brushProperty name="height" value="0.6" units="cm"/>
      <inkml:brushProperty name="color" value="#0069AF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9T08:40:11.091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0036A-A6B7-CEE6-24A2-109B12000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6CC67-32B5-5D0C-7033-0BBC44F569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8AA23-454D-A7B1-5180-4D8F8114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99D9B-B7CB-8AE5-F4F1-A181AE8A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E5D7E-0F8D-ADCA-0186-6951274B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20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0923-D5B2-CD73-CB3B-5B5482DB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8C279-8FCB-B9A9-45ED-5FBA1A977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3F5F6-AAA1-02D5-1376-26A5C9CA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C2DC7-EF95-02D0-67F9-532B8F2FC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62EC8-7D25-9965-BE13-C9C30049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2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8232-A321-73FE-E3EE-B3606A88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6EE5A-4162-45D9-13D3-8C4BD887A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72D02-A82C-0A40-D418-5398F6F9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3E037-65B3-C66A-FCC9-72D9C4B4E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18164-F3AC-7EC0-063F-037FA88C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86F7-C43C-73F7-1283-8B7B7E9E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4C323-0B55-CC63-6C90-ED95C3E1A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7E178-5620-E6E1-6E32-566506FA2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3D09-DE69-9535-ECFE-315E52B4B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52CE5-33D2-021A-219E-493E067AE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A950F-D5F0-8456-4A00-0346BBA81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9927-31D3-F12E-0E06-F326AAA2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60A25-5816-89A5-A203-57C0FB4CE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5689B-B9C8-FC72-0F79-2563F4BFB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F3B60-8A24-F4B1-BF84-143EE819E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D7545-7FA9-483C-28ED-EEAD3DC08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69122B-16B0-8722-FF33-2C3C9372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63A72-DD03-3E6E-2CC1-F1A95F6C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10B00-E5FF-7AE4-88CD-D29910F9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9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C1F3-0FC4-9D0B-9411-722FAEDC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4417A-5284-21BB-F462-0355D40E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596A1-8EDD-A791-06C4-BF9E4CBC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11649-3FCD-9C7B-AABD-5410BD2D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35189-6896-10EC-927D-61AE5CC3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B6AD2-354B-01A5-0A98-96717F99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352C4-39C2-24E5-BBEF-6A0382AB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4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11BE2-3A9F-42C6-B779-8E3B3008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7546B-F355-58DF-1DEB-F6A07E6EF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59BDA-8314-6226-5A5D-BB9969641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2BCFD-8213-4A79-F145-40E2CD65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D498E-3001-2E07-98E4-38801A65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AEED4-DA29-B205-875E-FB8F8CDE7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5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CFE3A-A004-5178-202F-9322FA576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6D749-0D8B-5226-213D-EE494E77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C6933-390C-F8E1-24FC-95607E940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89336-3438-1F0C-0D39-A924FEE0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5CF2F-3758-5D79-8CCD-CE4D96BF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45340-1BF2-CC85-2960-9922B5B15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20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E939-A2E8-2658-EF31-737F57011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5F251-1E9D-24ED-582E-797026A57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312A8-8AA8-FE60-AE22-CE11CF743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C5716-BE8C-10F3-9AC1-5113777E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61C73-A8AE-0E1C-B316-F7A28D66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45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1CA00-3185-0FAD-6F05-6ED979049A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04AA9-FF53-1DC2-E886-1E5886A46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8E347-203F-CDDC-883F-BB0CD6B3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1B2B3-2B5D-B0B9-C117-09E42FCE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67018-FF55-4085-7FC4-299D2883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3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143DEE-0848-DA1D-1573-3CE34B29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89AD-DD2A-F1A1-5C89-81F778E0C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8ED17-BF63-57F5-E7E7-71136D508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C3765-101D-4782-8294-3557391264E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C9D3-48AC-26B2-3A9F-021215E8B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436D7-8664-9ABA-E452-931AD46A4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E2CEC2-6B72-45B3-83BB-22BD37923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27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customXml" Target="../ink/ink1.xml"/><Relationship Id="rId7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ustomXml" Target="../ink/ink13.xml"/><Relationship Id="rId18" Type="http://schemas.openxmlformats.org/officeDocument/2006/relationships/customXml" Target="../ink/ink16.xml"/><Relationship Id="rId3" Type="http://schemas.openxmlformats.org/officeDocument/2006/relationships/customXml" Target="../ink/ink5.xml"/><Relationship Id="rId7" Type="http://schemas.openxmlformats.org/officeDocument/2006/relationships/customXml" Target="../ink/ink8.xml"/><Relationship Id="rId12" Type="http://schemas.openxmlformats.org/officeDocument/2006/relationships/customXml" Target="../ink/ink12.xml"/><Relationship Id="rId17" Type="http://schemas.openxmlformats.org/officeDocument/2006/relationships/image" Target="../media/image9.png"/><Relationship Id="rId2" Type="http://schemas.openxmlformats.org/officeDocument/2006/relationships/image" Target="../media/image7.png"/><Relationship Id="rId16" Type="http://schemas.openxmlformats.org/officeDocument/2006/relationships/customXml" Target="../ink/ink15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customXml" Target="../ink/ink11.xml"/><Relationship Id="rId5" Type="http://schemas.openxmlformats.org/officeDocument/2006/relationships/customXml" Target="../ink/ink6.xml"/><Relationship Id="rId15" Type="http://schemas.openxmlformats.org/officeDocument/2006/relationships/customXml" Target="../ink/ink14.xml"/><Relationship Id="rId10" Type="http://schemas.openxmlformats.org/officeDocument/2006/relationships/customXml" Target="../ink/ink10.xml"/><Relationship Id="rId19" Type="http://schemas.openxmlformats.org/officeDocument/2006/relationships/customXml" Target="../ink/ink17.xml"/><Relationship Id="rId4" Type="http://schemas.openxmlformats.org/officeDocument/2006/relationships/image" Target="../media/image60.png"/><Relationship Id="rId9" Type="http://schemas.openxmlformats.org/officeDocument/2006/relationships/customXml" Target="../ink/ink9.xml"/><Relationship Id="rId1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customXml" Target="../ink/ink24.xml"/><Relationship Id="rId3" Type="http://schemas.openxmlformats.org/officeDocument/2006/relationships/image" Target="../media/image12.png"/><Relationship Id="rId7" Type="http://schemas.openxmlformats.org/officeDocument/2006/relationships/customXml" Target="../ink/ink19.xml"/><Relationship Id="rId12" Type="http://schemas.openxmlformats.org/officeDocument/2006/relationships/customXml" Target="../ink/ink2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customXml" Target="../ink/ink22.xml"/><Relationship Id="rId5" Type="http://schemas.openxmlformats.org/officeDocument/2006/relationships/customXml" Target="../ink/ink18.xml"/><Relationship Id="rId10" Type="http://schemas.openxmlformats.org/officeDocument/2006/relationships/image" Target="../media/image50.png"/><Relationship Id="rId4" Type="http://schemas.openxmlformats.org/officeDocument/2006/relationships/image" Target="../media/image13.png"/><Relationship Id="rId9" Type="http://schemas.openxmlformats.org/officeDocument/2006/relationships/customXml" Target="../ink/ink21.xml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customXml" Target="../ink/ink31.xml"/><Relationship Id="rId3" Type="http://schemas.openxmlformats.org/officeDocument/2006/relationships/image" Target="../media/image12.png"/><Relationship Id="rId7" Type="http://schemas.openxmlformats.org/officeDocument/2006/relationships/customXml" Target="../ink/ink26.xml"/><Relationship Id="rId12" Type="http://schemas.openxmlformats.org/officeDocument/2006/relationships/customXml" Target="../ink/ink30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customXml" Target="../ink/ink29.xml"/><Relationship Id="rId5" Type="http://schemas.openxmlformats.org/officeDocument/2006/relationships/customXml" Target="../ink/ink25.xml"/><Relationship Id="rId10" Type="http://schemas.openxmlformats.org/officeDocument/2006/relationships/image" Target="../media/image50.png"/><Relationship Id="rId4" Type="http://schemas.openxmlformats.org/officeDocument/2006/relationships/image" Target="../media/image13.png"/><Relationship Id="rId9" Type="http://schemas.openxmlformats.org/officeDocument/2006/relationships/customXml" Target="../ink/ink28.xml"/><Relationship Id="rId1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28AEB-196D-DF86-DD60-1E52848E9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Moseq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655CB-CCE2-3463-4E77-BDE9CDC7D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Mohan Yang</a:t>
            </a:r>
          </a:p>
        </p:txBody>
      </p:sp>
    </p:spTree>
    <p:extLst>
      <p:ext uri="{BB962C8B-B14F-4D97-AF65-F5344CB8AC3E}">
        <p14:creationId xmlns:p14="http://schemas.microsoft.com/office/powerpoint/2010/main" val="1706519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52E7-659B-4D50-F8CF-9CE60CD8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64D248-0257-4F6B-1C5D-05A9CA46C8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423" y="2048465"/>
            <a:ext cx="4725114" cy="297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7DAD03-CB24-09D7-709F-07606705475D}"/>
              </a:ext>
            </a:extLst>
          </p:cNvPr>
          <p:cNvSpPr txBox="1"/>
          <p:nvPr/>
        </p:nvSpPr>
        <p:spPr>
          <a:xfrm>
            <a:off x="838200" y="1930400"/>
            <a:ext cx="59605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Chronic stress is a major risk factor for many neuropsychiatric disorders, and its effects on behavior are complex and difficult to quantify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behavioral assays capture limited aspects of changes, therefore subtle but meaningful behavioral alterations go undetected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Computational technology such as motion sequencing enables more detailed behavioral analysis, helping us to further understand how chronic stress affects behavioral processes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19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11AC-90D5-D060-DEAB-C4285FE4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6E227-8F1F-B738-F6A8-CC0808522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Motion sequencing (MoSeq) identifies sub-second behavioral “syllables” in an unsupervised, data-driven way, providing a detailed and unbiased map of how animals organize their movements over time</a:t>
            </a:r>
          </a:p>
          <a:p>
            <a:r>
              <a:rPr lang="en-US" sz="1800" dirty="0"/>
              <a:t>MoSeq captures changes in the frequency, duration, and transitions between behavioral motifs</a:t>
            </a:r>
          </a:p>
          <a:p>
            <a:r>
              <a:rPr lang="en-US" sz="1800" dirty="0"/>
              <a:t>These fine-scale insights are valuable for studying anxiety- and depression-like states, which makes Mo-seq useful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C07789-FA59-7C23-85F8-79758F937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680" y="3689502"/>
            <a:ext cx="9559159" cy="292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699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25AB-6F89-D4C7-6A2B-B1B93D731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Timeline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A7D8C6C-08D5-382A-9249-97BEB01CE7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036" y="1690688"/>
            <a:ext cx="9081927" cy="441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88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18AE-FDE6-0F54-81FD-EA02C7070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Size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8F75E9-C44D-C511-CE3A-99C3BADBA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13" y="1506829"/>
            <a:ext cx="9445294" cy="455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866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E4F3E81-71DB-E837-EE1F-CD46F4458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88" y="88627"/>
            <a:ext cx="7685263" cy="6769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B1D7D5-CA6B-5D9F-D9E2-89EE8141A3B3}"/>
              </a:ext>
            </a:extLst>
          </p:cNvPr>
          <p:cNvSpPr txBox="1"/>
          <p:nvPr/>
        </p:nvSpPr>
        <p:spPr>
          <a:xfrm>
            <a:off x="8157681" y="1500027"/>
            <a:ext cx="37262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Finger Print Plot: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mice’s speeds tends be slower than the female mice.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mice has higher height and length than female mice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Moseq syllable distribution is different between male and female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66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rats on a black background&#10;&#10;AI-generated content may be incorrect.">
            <a:extLst>
              <a:ext uri="{FF2B5EF4-FFF2-40B4-BE49-F238E27FC236}">
                <a16:creationId xmlns:a16="http://schemas.microsoft.com/office/drawing/2014/main" id="{2A900E1A-AB9E-F507-361F-EDE8269A9D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41" y="877825"/>
            <a:ext cx="11352135" cy="50479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266F4BF-16C4-FE5A-81D6-6A59BF7448EF}"/>
                  </a:ext>
                </a:extLst>
              </p14:cNvPr>
              <p14:cNvContentPartPr/>
              <p14:nvPr/>
            </p14:nvContentPartPr>
            <p14:xfrm>
              <a:off x="1599366" y="4110404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266F4BF-16C4-FE5A-81D6-6A59BF7448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5366" y="400276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A1C1188-8DCE-C885-85BA-3EFD9A57E749}"/>
                  </a:ext>
                </a:extLst>
              </p14:cNvPr>
              <p14:cNvContentPartPr/>
              <p14:nvPr/>
            </p14:nvContentPartPr>
            <p14:xfrm>
              <a:off x="4624086" y="4106804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A1C1188-8DCE-C885-85BA-3EFD9A57E7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0086" y="399880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C7304A7-D7DE-6937-30D9-B762BB7E61DB}"/>
                  </a:ext>
                </a:extLst>
              </p14:cNvPr>
              <p14:cNvContentPartPr/>
              <p14:nvPr/>
            </p14:nvContentPartPr>
            <p14:xfrm>
              <a:off x="6982086" y="4111124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C7304A7-D7DE-6937-30D9-B762BB7E61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28086" y="400348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9115416-F73D-7A31-2D67-95D57A460BC7}"/>
                  </a:ext>
                </a:extLst>
              </p14:cNvPr>
              <p14:cNvContentPartPr/>
              <p14:nvPr/>
            </p14:nvContentPartPr>
            <p14:xfrm>
              <a:off x="9262326" y="4101044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9115416-F73D-7A31-2D67-95D57A460B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08686" y="3993404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392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6E80-3332-C5D5-2A41-02319EF3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Male and Female Baseline Difference in Syllable Distribution</a:t>
            </a:r>
          </a:p>
        </p:txBody>
      </p:sp>
      <p:pic>
        <p:nvPicPr>
          <p:cNvPr id="7" name="Content Placeholder 6" descr="A graph with colorful lines and numbers&#10;&#10;AI-generated content may be incorrect.">
            <a:extLst>
              <a:ext uri="{FF2B5EF4-FFF2-40B4-BE49-F238E27FC236}">
                <a16:creationId xmlns:a16="http://schemas.microsoft.com/office/drawing/2014/main" id="{66779B77-1B48-369C-4FC3-8A2D069E8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61" y="1549008"/>
            <a:ext cx="10648739" cy="45150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A6CD53E-38DC-812C-21C7-019DFA296B2E}"/>
                  </a:ext>
                </a:extLst>
              </p14:cNvPr>
              <p14:cNvContentPartPr/>
              <p14:nvPr/>
            </p14:nvContentPartPr>
            <p14:xfrm>
              <a:off x="10637676" y="5790331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A6CD53E-38DC-812C-21C7-019DFA296B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84036" y="56823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9899250-AAFC-D055-82D1-7AFFC6421D2C}"/>
                  </a:ext>
                </a:extLst>
              </p14:cNvPr>
              <p14:cNvContentPartPr/>
              <p14:nvPr/>
            </p14:nvContentPartPr>
            <p14:xfrm>
              <a:off x="9590436" y="580725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9899250-AAFC-D055-82D1-7AFFC6421D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6796" y="569961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BBE3A7-0E0C-7F17-FA3C-6FE010BE4DAF}"/>
                  </a:ext>
                </a:extLst>
              </p14:cNvPr>
              <p14:cNvContentPartPr/>
              <p14:nvPr/>
            </p14:nvContentPartPr>
            <p14:xfrm>
              <a:off x="9239436" y="5799331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BBE3A7-0E0C-7F17-FA3C-6FE010BE4D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85436" y="56913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A8E9832-119A-7BF0-DE50-EB769360051E}"/>
                  </a:ext>
                </a:extLst>
              </p14:cNvPr>
              <p14:cNvContentPartPr/>
              <p14:nvPr/>
            </p14:nvContentPartPr>
            <p14:xfrm>
              <a:off x="3848286" y="5791964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A8E9832-119A-7BF0-DE50-EB76936005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94646" y="568432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C4E917E-4597-0363-70E1-D9D4D4DE5B73}"/>
                  </a:ext>
                </a:extLst>
              </p14:cNvPr>
              <p14:cNvContentPartPr/>
              <p14:nvPr/>
            </p14:nvContentPartPr>
            <p14:xfrm>
              <a:off x="2267886" y="5801324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C4E917E-4597-0363-70E1-D9D4D4DE5B7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14246" y="569332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C90569A-F074-9166-D21D-9C5AC5CC5232}"/>
                  </a:ext>
                </a:extLst>
              </p14:cNvPr>
              <p14:cNvContentPartPr/>
              <p14:nvPr/>
            </p14:nvContentPartPr>
            <p14:xfrm>
              <a:off x="2624286" y="5801324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C90569A-F074-9166-D21D-9C5AC5CC52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70286" y="569332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A4C3414-16DE-3F19-7F05-C65353EEADFA}"/>
                  </a:ext>
                </a:extLst>
              </p14:cNvPr>
              <p14:cNvContentPartPr/>
              <p14:nvPr/>
            </p14:nvContentPartPr>
            <p14:xfrm>
              <a:off x="10471206" y="5792684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A4C3414-16DE-3F19-7F05-C65353EEAD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17566" y="568504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9194CE6-5E40-25DF-E7F3-D40D34CEA430}"/>
                  </a:ext>
                </a:extLst>
              </p14:cNvPr>
              <p14:cNvContentPartPr/>
              <p14:nvPr/>
            </p14:nvContentPartPr>
            <p14:xfrm>
              <a:off x="8370966" y="579880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9194CE6-5E40-25DF-E7F3-D40D34CEA43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16966" y="569080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1F6C97-C367-0700-5FB9-67146921750F}"/>
                  </a:ext>
                </a:extLst>
              </p14:cNvPr>
              <p14:cNvContentPartPr/>
              <p14:nvPr/>
            </p14:nvContentPartPr>
            <p14:xfrm>
              <a:off x="2975946" y="5799203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1F6C97-C367-0700-5FB9-67146921750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21946" y="569120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A5CF60-3B18-A086-EFED-359DFB1C7F3A}"/>
                  </a:ext>
                </a:extLst>
              </p14:cNvPr>
              <p14:cNvContentPartPr/>
              <p14:nvPr/>
            </p14:nvContentPartPr>
            <p14:xfrm>
              <a:off x="3334866" y="581180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A5CF60-3B18-A086-EFED-359DFB1C7F3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81226" y="570416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FF7CA1-20E5-571F-266D-DA2E2E56ACCD}"/>
                  </a:ext>
                </a:extLst>
              </p14:cNvPr>
              <p14:cNvContentPartPr/>
              <p14:nvPr/>
            </p14:nvContentPartPr>
            <p14:xfrm>
              <a:off x="8014511" y="578529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FF7CA1-20E5-571F-266D-DA2E2E56ACC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60871" y="567765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BF195BD-87FD-5751-E28A-6A4F52D1E261}"/>
                  </a:ext>
                </a:extLst>
              </p14:cNvPr>
              <p14:cNvContentPartPr/>
              <p14:nvPr/>
            </p14:nvContentPartPr>
            <p14:xfrm>
              <a:off x="8899391" y="578961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BF195BD-87FD-5751-E28A-6A4F52D1E26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45391" y="568161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DB26039-8EFD-3C6C-F66B-0E14A12B511A}"/>
                  </a:ext>
                </a:extLst>
              </p14:cNvPr>
              <p14:cNvContentPartPr/>
              <p14:nvPr/>
            </p14:nvContentPartPr>
            <p14:xfrm>
              <a:off x="5417086" y="5795991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DB26039-8EFD-3C6C-F66B-0E14A12B511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63446" y="5687991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350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1429B-9E0C-D855-9C59-CF416150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Cort Male Group comparison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E4A8D6-DF35-7D7A-C628-AE85FFC47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3622"/>
            <a:ext cx="10580837" cy="4486275"/>
          </a:xfrm>
          <a:prstGeom prst="rect">
            <a:avLst/>
          </a:prstGeom>
        </p:spPr>
      </p:pic>
      <p:pic>
        <p:nvPicPr>
          <p:cNvPr id="7" name="Picture 6" descr="A close up of a mouse&#10;&#10;AI-generated content may be incorrect.">
            <a:extLst>
              <a:ext uri="{FF2B5EF4-FFF2-40B4-BE49-F238E27FC236}">
                <a16:creationId xmlns:a16="http://schemas.microsoft.com/office/drawing/2014/main" id="{004E986A-E2A0-005A-233D-B31025F62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146" y="5863521"/>
            <a:ext cx="1856474" cy="841726"/>
          </a:xfrm>
          <a:prstGeom prst="rect">
            <a:avLst/>
          </a:prstGeom>
        </p:spPr>
      </p:pic>
      <p:pic>
        <p:nvPicPr>
          <p:cNvPr id="9" name="Picture 8" descr="A comparison of rats with text&#10;&#10;AI-generated content may be incorrect.">
            <a:extLst>
              <a:ext uri="{FF2B5EF4-FFF2-40B4-BE49-F238E27FC236}">
                <a16:creationId xmlns:a16="http://schemas.microsoft.com/office/drawing/2014/main" id="{FF924775-303C-37A1-A213-B244DCB31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741" y="5787144"/>
            <a:ext cx="2016227" cy="9181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BDD0BB4-DE23-6C04-A417-1B61A6BA5DC3}"/>
                  </a:ext>
                </a:extLst>
              </p14:cNvPr>
              <p14:cNvContentPartPr/>
              <p14:nvPr/>
            </p14:nvContentPartPr>
            <p14:xfrm>
              <a:off x="10378835" y="5660059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BDD0BB4-DE23-6C04-A417-1B61A6BA5DC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25195" y="555241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759B5C3-095A-0E93-BB31-F406CAB4A8C2}"/>
                  </a:ext>
                </a:extLst>
              </p14:cNvPr>
              <p14:cNvContentPartPr/>
              <p14:nvPr/>
            </p14:nvContentPartPr>
            <p14:xfrm>
              <a:off x="10889675" y="5662579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759B5C3-095A-0E93-BB31-F406CAB4A8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35675" y="555457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A718681-4E84-5BFC-398E-6384E484F2FF}"/>
                  </a:ext>
                </a:extLst>
              </p14:cNvPr>
              <p14:cNvContentPartPr/>
              <p14:nvPr/>
            </p14:nvContentPartPr>
            <p14:xfrm>
              <a:off x="10192355" y="5667979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A718681-4E84-5BFC-398E-6384E484F2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38715" y="555997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D7FEB0C-98AD-7CA1-5839-55CE2E580B85}"/>
                  </a:ext>
                </a:extLst>
              </p14:cNvPr>
              <p14:cNvContentPartPr/>
              <p14:nvPr/>
            </p14:nvContentPartPr>
            <p14:xfrm>
              <a:off x="2221378" y="5655704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D7FEB0C-98AD-7CA1-5839-55CE2E580B8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67738" y="554770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18B2FC0-6838-04E6-FD2C-AAC4AC0E2296}"/>
                  </a:ext>
                </a:extLst>
              </p14:cNvPr>
              <p14:cNvContentPartPr/>
              <p14:nvPr/>
            </p14:nvContentPartPr>
            <p14:xfrm>
              <a:off x="4820578" y="5664344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18B2FC0-6838-04E6-FD2C-AAC4AC0E229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66578" y="555634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D88A599-8663-CD82-A56A-A888FB903752}"/>
                  </a:ext>
                </a:extLst>
              </p14:cNvPr>
              <p14:cNvContentPartPr/>
              <p14:nvPr/>
            </p14:nvContentPartPr>
            <p14:xfrm>
              <a:off x="3255658" y="5667584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D88A599-8663-CD82-A56A-A888FB9037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01658" y="5559944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16A2CD-4BCC-DE66-9D46-F5EFC6709B38}"/>
                  </a:ext>
                </a:extLst>
              </p14:cNvPr>
              <p14:cNvContentPartPr/>
              <p14:nvPr/>
            </p14:nvContentPartPr>
            <p14:xfrm>
              <a:off x="9838246" y="5680071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16A2CD-4BCC-DE66-9D46-F5EFC6709B3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84246" y="5572431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7117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D25E-7DD4-B62B-E812-4F6A12C2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Cort Female Group comparison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6B40B3-1EA8-2F56-4944-12908964C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05" y="1435806"/>
            <a:ext cx="10262589" cy="4351338"/>
          </a:xfrm>
          <a:prstGeom prst="rect">
            <a:avLst/>
          </a:prstGeom>
        </p:spPr>
      </p:pic>
      <p:pic>
        <p:nvPicPr>
          <p:cNvPr id="3" name="Picture 2" descr="A close up of a mouse&#10;&#10;AI-generated content may be incorrect.">
            <a:extLst>
              <a:ext uri="{FF2B5EF4-FFF2-40B4-BE49-F238E27FC236}">
                <a16:creationId xmlns:a16="http://schemas.microsoft.com/office/drawing/2014/main" id="{BBD38339-7E79-22BA-6B97-7ED0AA1AB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857" y="5738461"/>
            <a:ext cx="1856474" cy="841726"/>
          </a:xfrm>
          <a:prstGeom prst="rect">
            <a:avLst/>
          </a:prstGeom>
        </p:spPr>
      </p:pic>
      <p:pic>
        <p:nvPicPr>
          <p:cNvPr id="4" name="Picture 3" descr="A comparison of rats with text&#10;&#10;AI-generated content may be incorrect.">
            <a:extLst>
              <a:ext uri="{FF2B5EF4-FFF2-40B4-BE49-F238E27FC236}">
                <a16:creationId xmlns:a16="http://schemas.microsoft.com/office/drawing/2014/main" id="{B722B437-3150-BC98-C0AC-93EF207531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718" y="5700272"/>
            <a:ext cx="2016227" cy="9181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7BFB04-666C-85A4-C2CB-EF666BB1F66A}"/>
                  </a:ext>
                </a:extLst>
              </p14:cNvPr>
              <p14:cNvContentPartPr/>
              <p14:nvPr/>
            </p14:nvContentPartPr>
            <p14:xfrm>
              <a:off x="10211435" y="5527219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7BFB04-666C-85A4-C2CB-EF666BB1F6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57795" y="541957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6C44B3A-1244-210E-882B-D612829200BB}"/>
                  </a:ext>
                </a:extLst>
              </p14:cNvPr>
              <p14:cNvContentPartPr/>
              <p14:nvPr/>
            </p14:nvContentPartPr>
            <p14:xfrm>
              <a:off x="9026675" y="5538019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6C44B3A-1244-210E-882B-D612829200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73035" y="543001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69AC5CD-E6B6-3473-EBB1-E0AA472732E9}"/>
                  </a:ext>
                </a:extLst>
              </p14:cNvPr>
              <p14:cNvContentPartPr/>
              <p14:nvPr/>
            </p14:nvContentPartPr>
            <p14:xfrm>
              <a:off x="8867555" y="5538019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69AC5CD-E6B6-3473-EBB1-E0AA472732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13915" y="543001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541A2E-CA67-95A4-01FF-B19B52C6E2F2}"/>
                  </a:ext>
                </a:extLst>
              </p14:cNvPr>
              <p14:cNvContentPartPr/>
              <p14:nvPr/>
            </p14:nvContentPartPr>
            <p14:xfrm>
              <a:off x="1966139" y="5521086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541A2E-CA67-95A4-01FF-B19B52C6E2F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12139" y="541344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333F569-E831-1C38-49AE-3324A08F0501}"/>
                  </a:ext>
                </a:extLst>
              </p14:cNvPr>
              <p14:cNvContentPartPr/>
              <p14:nvPr/>
            </p14:nvContentPartPr>
            <p14:xfrm>
              <a:off x="2306699" y="5525406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333F569-E831-1C38-49AE-3324A08F050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53059" y="541776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23290C0-FEF0-4896-92DC-C7380D0EA5AC}"/>
                  </a:ext>
                </a:extLst>
              </p14:cNvPr>
              <p14:cNvContentPartPr/>
              <p14:nvPr/>
            </p14:nvContentPartPr>
            <p14:xfrm>
              <a:off x="2652299" y="5525406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23290C0-FEF0-4896-92DC-C7380D0EA5A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98299" y="541776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530ECE4-F95C-3BD2-577D-8CD60DF88602}"/>
                  </a:ext>
                </a:extLst>
              </p14:cNvPr>
              <p14:cNvContentPartPr/>
              <p14:nvPr/>
            </p14:nvContentPartPr>
            <p14:xfrm>
              <a:off x="10715206" y="553103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530ECE4-F95C-3BD2-577D-8CD60DF8860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61206" y="5423031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591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61683-BACF-B707-50D5-810F59C10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Male Group comparison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EDE876-2A0D-6E31-4A5D-95368B399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05" y="1825625"/>
            <a:ext cx="102625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39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1A648-1E3D-76DA-804B-DA90988B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Vehicle Female Group comparison over time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49486-2EE5-EC42-C27F-396B8BD43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05" y="1825625"/>
            <a:ext cx="102625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19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DE611-2714-8A77-3BEA-250858D15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 Baseline female vs. male t-test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5DFE5B-014E-6FAA-32A9-7B67D689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68" y="1766603"/>
            <a:ext cx="4582164" cy="406774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DA5F959-A870-E468-1A16-E1D30529BA9A}"/>
              </a:ext>
            </a:extLst>
          </p:cNvPr>
          <p:cNvGrpSpPr/>
          <p:nvPr/>
        </p:nvGrpSpPr>
        <p:grpSpPr>
          <a:xfrm>
            <a:off x="6096000" y="1766603"/>
            <a:ext cx="4739332" cy="4148697"/>
            <a:chOff x="5790878" y="1766603"/>
            <a:chExt cx="4739332" cy="414869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5E7545-BA7A-70AA-8A02-D0C3B7975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9940" y="1971400"/>
              <a:ext cx="4620270" cy="39439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F0AB54D-B1A5-07B1-8061-C8B138274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90878" y="1766603"/>
              <a:ext cx="4610743" cy="1905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9478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F431-EE10-1958-FBA6-71298EEC3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Cort week2 female vs. Cort baseline female t-test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7056DF-6BAA-AC59-0AD4-61C0BAB6C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545" y="1690688"/>
            <a:ext cx="4258269" cy="42106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17FFDC-2FCF-9D05-AB94-B665EC5DB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95504"/>
            <a:ext cx="4086795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9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9B7D-EAAA-5273-DC1F-7EF8CEC8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Cort week2 male vs. Cort baseline male t-test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EB784E-0D25-5F6D-766C-125152195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406" y="1690688"/>
            <a:ext cx="4503330" cy="4246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281AC-1DE0-D68C-FB89-C6BF316BD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538" y="1741228"/>
            <a:ext cx="4125750" cy="414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539C6-5F58-96A5-8F1E-D99F898A6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 wk2 female vs. male t-test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0C825F-409D-A71F-6864-E8C6EB485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328" y="1690688"/>
            <a:ext cx="4568904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79D821-6208-A865-DA0D-24EAA2932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232" y="1927829"/>
            <a:ext cx="4746732" cy="38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74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0C3DD-C09C-0751-B217-2BC4FCFD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 washout female vs. male t-test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8CAC9A-FB1D-2B04-2244-969242A59C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0724" y="1690688"/>
            <a:ext cx="4721268" cy="4523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3FFF2D-B21C-21D8-7309-8BC379744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30859"/>
            <a:ext cx="4534533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30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E593-7BEC-5D84-C4EC-08E583C7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0: Staying Still (Immobility)</a:t>
            </a:r>
          </a:p>
        </p:txBody>
      </p:sp>
      <p:pic>
        <p:nvPicPr>
          <p:cNvPr id="4" name="syllable_sorted-id-00_(usage)_original-id-58">
            <a:hlinkClick r:id="" action="ppaction://media"/>
            <a:extLst>
              <a:ext uri="{FF2B5EF4-FFF2-40B4-BE49-F238E27FC236}">
                <a16:creationId xmlns:a16="http://schemas.microsoft.com/office/drawing/2014/main" id="{DDA35B53-20BB-53ED-794E-CD1B4EFB446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42176" y="1449769"/>
            <a:ext cx="4812792" cy="481279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146881-9C5D-9CD0-5FC9-15799C7E2ACF}"/>
              </a:ext>
            </a:extLst>
          </p:cNvPr>
          <p:cNvSpPr txBox="1"/>
          <p:nvPr/>
        </p:nvSpPr>
        <p:spPr>
          <a:xfrm>
            <a:off x="938784" y="1690688"/>
            <a:ext cx="51572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Across Female and Male Cort Baselines, Male mice stays still more than Female mice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During </a:t>
            </a:r>
            <a:r>
              <a:rPr lang="en-US" dirty="0" err="1"/>
              <a:t>cort</a:t>
            </a:r>
            <a:r>
              <a:rPr lang="en-US" dirty="0"/>
              <a:t>, immobility behavior increases faster in the Cort treatment group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7D084-A2CF-B4CD-CE9C-2907A48AF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209544"/>
            <a:ext cx="5622070" cy="311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3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D70-4DD8-AF6D-AF01-2722B21F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23: Grooming</a:t>
            </a:r>
          </a:p>
        </p:txBody>
      </p:sp>
      <p:pic>
        <p:nvPicPr>
          <p:cNvPr id="4" name="syllable_sorted-id-23_(usage)_original-id-14">
            <a:hlinkClick r:id="" action="ppaction://media"/>
            <a:extLst>
              <a:ext uri="{FF2B5EF4-FFF2-40B4-BE49-F238E27FC236}">
                <a16:creationId xmlns:a16="http://schemas.microsoft.com/office/drawing/2014/main" id="{995B7EE2-7906-729B-2EB5-94FC5AAC79F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31000" y="1295400"/>
            <a:ext cx="4972050" cy="497205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A14C2A-8E20-AE5E-84A1-CCB267BCB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086101"/>
            <a:ext cx="5535329" cy="30956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38489D-3B5B-C013-7DA6-4612278F7F8C}"/>
              </a:ext>
            </a:extLst>
          </p:cNvPr>
          <p:cNvSpPr txBox="1"/>
          <p:nvPr/>
        </p:nvSpPr>
        <p:spPr>
          <a:xfrm>
            <a:off x="1005539" y="1742063"/>
            <a:ext cx="5200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</a:t>
            </a:r>
            <a:r>
              <a:rPr lang="en-US" dirty="0" err="1"/>
              <a:t>cort</a:t>
            </a:r>
            <a:r>
              <a:rPr lang="en-US" dirty="0"/>
              <a:t>, grooming behavior increases more in male mice. </a:t>
            </a:r>
          </a:p>
        </p:txBody>
      </p:sp>
    </p:spTree>
    <p:extLst>
      <p:ext uri="{BB962C8B-B14F-4D97-AF65-F5344CB8AC3E}">
        <p14:creationId xmlns:p14="http://schemas.microsoft.com/office/powerpoint/2010/main" val="339885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4C85F-A893-C703-4EC5-486ACF16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32: Grooming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2A70035-C200-2386-1ADD-D0773FA15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93773"/>
            <a:ext cx="5501158" cy="2996441"/>
          </a:xfrm>
          <a:prstGeom prst="rect">
            <a:avLst/>
          </a:prstGeom>
        </p:spPr>
      </p:pic>
      <p:pic>
        <p:nvPicPr>
          <p:cNvPr id="6" name="syllable_sorted-id-32_(usage)_original-id-47">
            <a:hlinkClick r:id="" action="ppaction://media"/>
            <a:extLst>
              <a:ext uri="{FF2B5EF4-FFF2-40B4-BE49-F238E27FC236}">
                <a16:creationId xmlns:a16="http://schemas.microsoft.com/office/drawing/2014/main" id="{F1C5CB3A-5CE5-1168-45AE-7A16C31786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37200" y="762259"/>
            <a:ext cx="5333482" cy="53334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124424-F8E4-FB74-CB27-42C87794F65D}"/>
              </a:ext>
            </a:extLst>
          </p:cNvPr>
          <p:cNvSpPr txBox="1"/>
          <p:nvPr/>
        </p:nvSpPr>
        <p:spPr>
          <a:xfrm>
            <a:off x="1205948" y="1881809"/>
            <a:ext cx="5009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male and female mice increases grooming behavior during </a:t>
            </a:r>
            <a:r>
              <a:rPr lang="en-US" dirty="0" err="1"/>
              <a:t>cort</a:t>
            </a:r>
            <a:r>
              <a:rPr lang="en-US" dirty="0"/>
              <a:t> treatment</a:t>
            </a:r>
          </a:p>
        </p:txBody>
      </p:sp>
    </p:spTree>
    <p:extLst>
      <p:ext uri="{BB962C8B-B14F-4D97-AF65-F5344CB8AC3E}">
        <p14:creationId xmlns:p14="http://schemas.microsoft.com/office/powerpoint/2010/main" val="387133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F7B0F-273F-5D59-2EB2-E1186881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5: Dart (locomotion)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A5A8F3-AA87-B3A3-27B3-C12099D527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15637" y="3335562"/>
            <a:ext cx="5512596" cy="3013143"/>
          </a:xfrm>
          <a:prstGeom prst="rect">
            <a:avLst/>
          </a:prstGeom>
        </p:spPr>
      </p:pic>
      <p:pic>
        <p:nvPicPr>
          <p:cNvPr id="6" name="syllable_sorted-id-05_(usage)_original-id-09">
            <a:hlinkClick r:id="" action="ppaction://media"/>
            <a:extLst>
              <a:ext uri="{FF2B5EF4-FFF2-40B4-BE49-F238E27FC236}">
                <a16:creationId xmlns:a16="http://schemas.microsoft.com/office/drawing/2014/main" id="{A0B1573F-64F7-6B19-17AE-43BDFC6419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29983" y="1544472"/>
            <a:ext cx="4948403" cy="49484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B8DA09-3EBC-1D3D-9773-526E481A2656}"/>
              </a:ext>
            </a:extLst>
          </p:cNvPr>
          <p:cNvSpPr txBox="1"/>
          <p:nvPr/>
        </p:nvSpPr>
        <p:spPr>
          <a:xfrm>
            <a:off x="1020175" y="1635004"/>
            <a:ext cx="5303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baseline, female mice darts more than the male mice, and as Cort treatment progresses, darting behavior decreases in both female and male group.</a:t>
            </a:r>
          </a:p>
        </p:txBody>
      </p:sp>
    </p:spTree>
    <p:extLst>
      <p:ext uri="{BB962C8B-B14F-4D97-AF65-F5344CB8AC3E}">
        <p14:creationId xmlns:p14="http://schemas.microsoft.com/office/powerpoint/2010/main" val="73025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DEF8-9B8F-3DAF-35CD-44A46D09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16: running forward (locomotion)</a:t>
            </a:r>
          </a:p>
        </p:txBody>
      </p:sp>
      <p:pic>
        <p:nvPicPr>
          <p:cNvPr id="14" name="syllable_sorted-id-16_(usage)_original-id-08">
            <a:hlinkClick r:id="" action="ppaction://media"/>
            <a:extLst>
              <a:ext uri="{FF2B5EF4-FFF2-40B4-BE49-F238E27FC236}">
                <a16:creationId xmlns:a16="http://schemas.microsoft.com/office/drawing/2014/main" id="{824A1A87-A929-E5EF-7C95-90C027D727D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26287" y="1690688"/>
            <a:ext cx="4351338" cy="4351338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F29F23-87C4-63FC-5253-93DBEDF80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1" y="3009900"/>
            <a:ext cx="5964234" cy="32432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371DAF-BBAD-447E-265C-0C49B599FC39}"/>
              </a:ext>
            </a:extLst>
          </p:cNvPr>
          <p:cNvSpPr txBox="1"/>
          <p:nvPr/>
        </p:nvSpPr>
        <p:spPr>
          <a:xfrm>
            <a:off x="962025" y="1581150"/>
            <a:ext cx="5857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mice is lacking this syllable usage. Forward movement for male is captured in syllable 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</a:t>
            </a:r>
            <a:r>
              <a:rPr lang="en-US" dirty="0" err="1"/>
              <a:t>cort</a:t>
            </a:r>
            <a:r>
              <a:rPr lang="en-US" dirty="0"/>
              <a:t>, this behavior decreases almost to 0 in female mice.</a:t>
            </a:r>
          </a:p>
        </p:txBody>
      </p:sp>
    </p:spTree>
    <p:extLst>
      <p:ext uri="{BB962C8B-B14F-4D97-AF65-F5344CB8AC3E}">
        <p14:creationId xmlns:p14="http://schemas.microsoft.com/office/powerpoint/2010/main" val="231277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B8A8-E490-EE18-429B-7DA1D444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8: Moving forward (locomotion)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F80CA9-6239-A224-8C53-957B07429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83" y="3149678"/>
            <a:ext cx="5646683" cy="3090900"/>
          </a:xfrm>
          <a:prstGeom prst="rect">
            <a:avLst/>
          </a:prstGeom>
        </p:spPr>
      </p:pic>
      <p:pic>
        <p:nvPicPr>
          <p:cNvPr id="10" name="syllable_sorted-id-08_(usage)_original-id-25">
            <a:hlinkClick r:id="" action="ppaction://media"/>
            <a:extLst>
              <a:ext uri="{FF2B5EF4-FFF2-40B4-BE49-F238E27FC236}">
                <a16:creationId xmlns:a16="http://schemas.microsoft.com/office/drawing/2014/main" id="{DD9E6EB9-779A-452E-B8C3-62E094F903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09717" y="1492468"/>
            <a:ext cx="4772681" cy="47726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9D2601-77A2-99FA-768C-FA459B5A8CE7}"/>
              </a:ext>
            </a:extLst>
          </p:cNvPr>
          <p:cNvSpPr txBox="1"/>
          <p:nvPr/>
        </p:nvSpPr>
        <p:spPr>
          <a:xfrm>
            <a:off x="1265182" y="1773851"/>
            <a:ext cx="4960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mice has less locomotion during </a:t>
            </a:r>
            <a:r>
              <a:rPr lang="en-US" dirty="0" err="1"/>
              <a:t>cort</a:t>
            </a:r>
            <a:r>
              <a:rPr lang="en-US" dirty="0"/>
              <a:t> treatment.</a:t>
            </a:r>
          </a:p>
        </p:txBody>
      </p:sp>
    </p:spTree>
    <p:extLst>
      <p:ext uri="{BB962C8B-B14F-4D97-AF65-F5344CB8AC3E}">
        <p14:creationId xmlns:p14="http://schemas.microsoft.com/office/powerpoint/2010/main" val="154601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AFB4-4F17-46A0-0736-1EA056F22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22: rearing (Exploration)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27E751A-782E-5076-DBDC-890E29471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45" y="3245804"/>
            <a:ext cx="5154668" cy="2895881"/>
          </a:xfrm>
          <a:prstGeom prst="rect">
            <a:avLst/>
          </a:prstGeom>
        </p:spPr>
      </p:pic>
      <p:pic>
        <p:nvPicPr>
          <p:cNvPr id="6" name="syllable_sorted-id-22_(usage)_original-id-52">
            <a:hlinkClick r:id="" action="ppaction://media"/>
            <a:extLst>
              <a:ext uri="{FF2B5EF4-FFF2-40B4-BE49-F238E27FC236}">
                <a16:creationId xmlns:a16="http://schemas.microsoft.com/office/drawing/2014/main" id="{796526C0-F28E-62E6-47B0-351559440F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625787" y="1483225"/>
            <a:ext cx="4889687" cy="4889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A353AA-DAEE-36EE-CA86-3D85675ADA23}"/>
              </a:ext>
            </a:extLst>
          </p:cNvPr>
          <p:cNvSpPr txBox="1"/>
          <p:nvPr/>
        </p:nvSpPr>
        <p:spPr>
          <a:xfrm>
            <a:off x="1093737" y="1710231"/>
            <a:ext cx="5014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mice is lacking this syllable behavior, male rearing is captured in syllable 26/33/35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Cort, female mice decreases rearing behavior</a:t>
            </a:r>
          </a:p>
        </p:txBody>
      </p:sp>
    </p:spTree>
    <p:extLst>
      <p:ext uri="{BB962C8B-B14F-4D97-AF65-F5344CB8AC3E}">
        <p14:creationId xmlns:p14="http://schemas.microsoft.com/office/powerpoint/2010/main" val="412761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B9D9-4ED6-15A8-47D8-AF1CEB0A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33: rearing (Exploration)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F4414-DA70-750D-5C8B-712F8B119EE5}"/>
              </a:ext>
            </a:extLst>
          </p:cNvPr>
          <p:cNvSpPr txBox="1"/>
          <p:nvPr/>
        </p:nvSpPr>
        <p:spPr>
          <a:xfrm>
            <a:off x="963525" y="1873731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Female is lacking this rearing syllable.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</a:t>
            </a:r>
            <a:r>
              <a:rPr lang="en-US" dirty="0" err="1"/>
              <a:t>cort</a:t>
            </a:r>
            <a:r>
              <a:rPr lang="en-US" dirty="0"/>
              <a:t>, male mice decreases rearing</a:t>
            </a:r>
          </a:p>
        </p:txBody>
      </p:sp>
      <p:pic>
        <p:nvPicPr>
          <p:cNvPr id="11" name="Content Placeholder 10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96044A8E-DAC9-C7C0-5291-3D3FFCEE3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70" y="3182523"/>
            <a:ext cx="5573909" cy="3022191"/>
          </a:xfrm>
          <a:prstGeom prst="rect">
            <a:avLst/>
          </a:prstGeom>
        </p:spPr>
      </p:pic>
      <p:pic>
        <p:nvPicPr>
          <p:cNvPr id="12" name="syllable_sorted-id-33_(usage)_original-id-19">
            <a:hlinkClick r:id="" action="ppaction://media"/>
            <a:extLst>
              <a:ext uri="{FF2B5EF4-FFF2-40B4-BE49-F238E27FC236}">
                <a16:creationId xmlns:a16="http://schemas.microsoft.com/office/drawing/2014/main" id="{75AE1133-E1E0-A5E7-53DA-A43AEDDF6D8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15674" y="1682202"/>
            <a:ext cx="4638126" cy="463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87400-6D5E-8E37-09AF-FD7C2C71D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810" y="146780"/>
            <a:ext cx="10515600" cy="1325563"/>
          </a:xfrm>
        </p:spPr>
        <p:txBody>
          <a:bodyPr/>
          <a:lstStyle/>
          <a:p>
            <a:r>
              <a:rPr lang="en-US" dirty="0"/>
              <a:t>Dendrogram (</a:t>
            </a:r>
            <a:r>
              <a:rPr lang="en-US" dirty="0" err="1"/>
              <a:t>arinit</a:t>
            </a:r>
            <a:r>
              <a:rPr lang="en-US" dirty="0"/>
              <a:t>-average)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C291EE-4E80-8913-4F21-B0CB3DA8C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90" y="1222625"/>
            <a:ext cx="10729056" cy="540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50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F41C-47DE-E466-4E16-76A415BC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Dendrogram (</a:t>
            </a:r>
            <a:r>
              <a:rPr lang="en-US" dirty="0" err="1"/>
              <a:t>ardtw</a:t>
            </a:r>
            <a:r>
              <a:rPr lang="en-US" dirty="0"/>
              <a:t>-average)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54F37-48F8-ECE8-88DB-F2D88667D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66ED8-D0A8-FAE7-0BB4-E530F1B5E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8151"/>
            <a:ext cx="10638034" cy="526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17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0CFD-5C83-A76C-DA4E-31D251F68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997" y="2697946"/>
            <a:ext cx="10515600" cy="519428"/>
          </a:xfrm>
        </p:spPr>
        <p:txBody>
          <a:bodyPr>
            <a:noAutofit/>
          </a:bodyPr>
          <a:lstStyle/>
          <a:p>
            <a:r>
              <a:rPr lang="en-US" sz="3200" dirty="0"/>
              <a:t>Kaitlyn’s </a:t>
            </a:r>
            <a:r>
              <a:rPr lang="en-US" sz="3200" dirty="0" err="1"/>
              <a:t>veh</a:t>
            </a:r>
            <a:r>
              <a:rPr lang="en-US" sz="3200" dirty="0"/>
              <a:t> data </a:t>
            </a:r>
            <a:br>
              <a:rPr lang="en-US" sz="3200" dirty="0"/>
            </a:br>
            <a:r>
              <a:rPr lang="en-US" sz="3200" dirty="0"/>
              <a:t>vs. </a:t>
            </a:r>
            <a:br>
              <a:rPr lang="en-US" sz="3200" dirty="0"/>
            </a:br>
            <a:r>
              <a:rPr lang="en-US" sz="3200" dirty="0"/>
              <a:t>Steve’s </a:t>
            </a:r>
            <a:r>
              <a:rPr lang="en-US" sz="3200" dirty="0" err="1"/>
              <a:t>veh</a:t>
            </a:r>
            <a:r>
              <a:rPr lang="en-US" sz="3200" dirty="0"/>
              <a:t>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60CB0C-1FDD-FF99-3AB7-FC6B819A2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46" y="1"/>
            <a:ext cx="8261252" cy="3401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48F46A-A86B-B58F-FD4F-A70148B82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98" y="3371099"/>
            <a:ext cx="8352148" cy="348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9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AE21E-FDC9-4EF4-B628-D108CD77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A84C-E58F-0624-9DE6-212A2C86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9031" y="2909572"/>
            <a:ext cx="10515600" cy="519428"/>
          </a:xfrm>
        </p:spPr>
        <p:txBody>
          <a:bodyPr>
            <a:noAutofit/>
          </a:bodyPr>
          <a:lstStyle/>
          <a:p>
            <a:r>
              <a:rPr lang="en-US" sz="3200" dirty="0"/>
              <a:t>Kaitlyn’s </a:t>
            </a:r>
            <a:r>
              <a:rPr lang="en-US" sz="3200" dirty="0" err="1"/>
              <a:t>cort</a:t>
            </a:r>
            <a:r>
              <a:rPr lang="en-US" sz="3200" dirty="0"/>
              <a:t> data </a:t>
            </a:r>
            <a:br>
              <a:rPr lang="en-US" sz="3200" dirty="0"/>
            </a:br>
            <a:r>
              <a:rPr lang="en-US" sz="3200" dirty="0"/>
              <a:t>vs. </a:t>
            </a:r>
            <a:br>
              <a:rPr lang="en-US" sz="3200" dirty="0"/>
            </a:br>
            <a:r>
              <a:rPr lang="en-US" sz="3200" dirty="0"/>
              <a:t>Steve’s </a:t>
            </a:r>
            <a:r>
              <a:rPr lang="en-US" sz="3200" dirty="0" err="1"/>
              <a:t>cort</a:t>
            </a:r>
            <a:r>
              <a:rPr lang="en-US" sz="3200" dirty="0"/>
              <a:t>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72F411-0E37-7977-D141-D1673865C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51" y="19288"/>
            <a:ext cx="7982729" cy="33102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13E414-3A81-D4C5-1AE1-856D55F64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89" y="3379597"/>
            <a:ext cx="8157391" cy="347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71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C82C-4246-A23E-207D-4CD8A45A2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333594"/>
            <a:ext cx="10515600" cy="1325563"/>
          </a:xfrm>
        </p:spPr>
        <p:txBody>
          <a:bodyPr/>
          <a:lstStyle/>
          <a:p>
            <a:r>
              <a:rPr lang="en-US" dirty="0"/>
              <a:t>Findings: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DED03D1-8C2E-4D9E-D65D-93DD976F4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079649"/>
              </p:ext>
            </p:extLst>
          </p:nvPr>
        </p:nvGraphicFramePr>
        <p:xfrm>
          <a:off x="838197" y="2487777"/>
          <a:ext cx="10515597" cy="38682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08890">
                  <a:extLst>
                    <a:ext uri="{9D8B030D-6E8A-4147-A177-3AD203B41FA5}">
                      <a16:colId xmlns:a16="http://schemas.microsoft.com/office/drawing/2014/main" val="2154616678"/>
                    </a:ext>
                  </a:extLst>
                </a:gridCol>
                <a:gridCol w="4201508">
                  <a:extLst>
                    <a:ext uri="{9D8B030D-6E8A-4147-A177-3AD203B41FA5}">
                      <a16:colId xmlns:a16="http://schemas.microsoft.com/office/drawing/2014/main" val="400908948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83884310"/>
                    </a:ext>
                  </a:extLst>
                </a:gridCol>
              </a:tblGrid>
              <a:tr h="73846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Females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191720"/>
                  </a:ext>
                </a:extLst>
              </a:tr>
              <a:tr h="7384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Immobility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baseline immobility, increase with </a:t>
                      </a:r>
                      <a:r>
                        <a:rPr lang="en-US" dirty="0" err="1"/>
                        <a:t>cort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baseline immobility, increase with </a:t>
                      </a:r>
                      <a:r>
                        <a:rPr lang="en-US" dirty="0" err="1"/>
                        <a:t>cort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551237"/>
                  </a:ext>
                </a:extLst>
              </a:tr>
              <a:tr h="7384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locomotion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darting and walking </a:t>
                      </a:r>
                      <a:r>
                        <a:rPr lang="en-US" dirty="0" err="1"/>
                        <a:t>foward</a:t>
                      </a:r>
                      <a:r>
                        <a:rPr lang="en-US" dirty="0"/>
                        <a:t> decreases during </a:t>
                      </a:r>
                      <a:r>
                        <a:rPr lang="en-US" dirty="0" err="1"/>
                        <a:t>cort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both dart and run decreases sharply during </a:t>
                      </a:r>
                      <a:r>
                        <a:rPr lang="en-US" dirty="0" err="1"/>
                        <a:t>cort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063610"/>
                  </a:ext>
                </a:extLst>
              </a:tr>
              <a:tr h="7384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exploratory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Rearing decreases during </a:t>
                      </a:r>
                      <a:r>
                        <a:rPr lang="en-US" dirty="0" err="1"/>
                        <a:t>cort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Rearing decreases during </a:t>
                      </a:r>
                      <a:r>
                        <a:rPr lang="en-US" dirty="0" err="1"/>
                        <a:t>cort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619572"/>
                  </a:ext>
                </a:extLst>
              </a:tr>
              <a:tr h="73846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grooming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Increase with </a:t>
                      </a:r>
                      <a:r>
                        <a:rPr lang="en-US" dirty="0" err="1"/>
                        <a:t>cort</a:t>
                      </a:r>
                      <a:r>
                        <a:rPr lang="en-US" dirty="0"/>
                        <a:t>, males tends to increase grooming behavior more than 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Increase with </a:t>
                      </a:r>
                      <a:r>
                        <a:rPr lang="en-US" dirty="0" err="1"/>
                        <a:t>cort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77257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022BD86-E095-8B9A-DC4A-6FFB67AEBD6E}"/>
              </a:ext>
            </a:extLst>
          </p:cNvPr>
          <p:cNvSpPr txBox="1"/>
          <p:nvPr/>
        </p:nvSpPr>
        <p:spPr>
          <a:xfrm>
            <a:off x="838197" y="1420751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For locomotion and rearing, males and females tend to use non-overlapping syllables for the same behavioral category (Syllable 16 vs. 8 for forward movement; Syllable 22 vs. 33 for rearing)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This likely reflects subtle sex differences in movement kinematics that MoSeq captures automatically.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81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5F714-FCE8-6DF5-C5AA-EFB459AF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F01CA-8A81-86C2-BD72-283BF57D0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There are important sex differences in both baseline behavior and responses to chronic stress, emphasizing the need to include both males and females in neuropsychiatric research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Stress-induced behavioral changes may be sex-specific, which has important implications for understanding and developing targeted treatments for anxiety and depression</a:t>
            </a:r>
            <a:br>
              <a:rPr lang="en-US" dirty="0"/>
            </a:br>
            <a:endParaRPr lang="en-US" dirty="0"/>
          </a:p>
          <a:p>
            <a:pPr fontAlgn="base"/>
            <a:r>
              <a:rPr lang="en-US" dirty="0"/>
              <a:t>Anxiety- and depression-like phenotypes can be detected even during natural, free behavior, supporting a shift toward less invasive, more ethologically relevant approaches for studying psychiatric-like states in animal models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667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17757</TotalTime>
  <Words>673</Words>
  <Application>Microsoft Office PowerPoint</Application>
  <PresentationFormat>Widescreen</PresentationFormat>
  <Paragraphs>84</Paragraphs>
  <Slides>31</Slides>
  <Notes>0</Notes>
  <HiddenSlides>5</HiddenSlides>
  <MMClips>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Aptos Display</vt:lpstr>
      <vt:lpstr>Arial</vt:lpstr>
      <vt:lpstr>Office Theme</vt:lpstr>
      <vt:lpstr>Moseq Report</vt:lpstr>
      <vt:lpstr>Background</vt:lpstr>
      <vt:lpstr>Motion Sequencing</vt:lpstr>
      <vt:lpstr>Experiment Timeline</vt:lpstr>
      <vt:lpstr>Sample Size</vt:lpstr>
      <vt:lpstr>PowerPoint Presentation</vt:lpstr>
      <vt:lpstr>PowerPoint Presentation</vt:lpstr>
      <vt:lpstr>Male and Female Baseline Difference in Syllable Distribution</vt:lpstr>
      <vt:lpstr>Cort Male Group comparison over time</vt:lpstr>
      <vt:lpstr>Cort Female Group comparison over time</vt:lpstr>
      <vt:lpstr>Vehicle Male Group comparison over time</vt:lpstr>
      <vt:lpstr>Vehicle Female Group comparison over time</vt:lpstr>
      <vt:lpstr>Cort Baseline female vs. male t-test</vt:lpstr>
      <vt:lpstr>Cort week2 female vs. Cort baseline female t-test</vt:lpstr>
      <vt:lpstr>Cort week2 male vs. Cort baseline male t-test</vt:lpstr>
      <vt:lpstr>Cort wk2 female vs. male t-test</vt:lpstr>
      <vt:lpstr>Cort washout female vs. male t-test</vt:lpstr>
      <vt:lpstr>Syllable 0: Staying Still (Immobility)</vt:lpstr>
      <vt:lpstr>Syllable 23: Grooming</vt:lpstr>
      <vt:lpstr>Syllable 32: Grooming</vt:lpstr>
      <vt:lpstr>Syllable 5: Dart (locomotion)</vt:lpstr>
      <vt:lpstr>Syllable 16: running forward (locomotion)</vt:lpstr>
      <vt:lpstr>Syllable 8: Moving forward (locomotion)</vt:lpstr>
      <vt:lpstr>Syllable 22: rearing (Exploration)</vt:lpstr>
      <vt:lpstr>Syllable 33: rearing (Exploration)</vt:lpstr>
      <vt:lpstr>Dendrogram (arinit-average)</vt:lpstr>
      <vt:lpstr>Dendrogram (ardtw-average)</vt:lpstr>
      <vt:lpstr>Kaitlyn’s veh data  vs.  Steve’s veh data</vt:lpstr>
      <vt:lpstr>Kaitlyn’s cort data  vs.  Steve’s cort data</vt:lpstr>
      <vt:lpstr>Findings:</vt:lpstr>
      <vt:lpstr>Discussions: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Yang</dc:creator>
  <cp:lastModifiedBy>Mohan Yang</cp:lastModifiedBy>
  <cp:revision>112</cp:revision>
  <dcterms:created xsi:type="dcterms:W3CDTF">2026-03-16T18:43:55Z</dcterms:created>
  <dcterms:modified xsi:type="dcterms:W3CDTF">2026-04-29T21:55:22Z</dcterms:modified>
</cp:coreProperties>
</file>