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7"/>
    <p:restoredTop sz="94708"/>
  </p:normalViewPr>
  <p:slideViewPr>
    <p:cSldViewPr snapToGrid="0">
      <p:cViewPr varScale="1">
        <p:scale>
          <a:sx n="102" d="100"/>
          <a:sy n="102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1E54-D33E-2D3F-0F72-6EBB696B0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96D2C-2BA2-63BB-D1BC-5FD9B5509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B8EE5-24F7-711C-371E-ACFB53F5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E6868-1592-83C0-4721-56E5DD52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CEE0F-326A-F7FC-DBFE-0CDDF37D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2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3ADE-8EF5-F80D-DB96-63296C98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6D07F-C454-7F62-4C74-A2858826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AFE34-9B0C-4F64-A5B4-FDD3E2E4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212EF-DBC3-AD6F-F189-BBB37693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BF141-F7CE-3019-3B1F-4FA59D75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6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EB27-3D91-6D5F-7B19-A1019101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8475A-FA17-0378-6B9F-78F0A5CD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9F40F-0972-B34D-A720-163C511E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CF3D2-165B-5C3A-D68E-8A3095A1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4478A-28EC-CC0E-35E0-B8DA09E2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6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44B9-5C38-B792-4EDF-C31330B6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A17D-5761-47C0-9DB2-8479BBBF8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292AB-881D-14D1-C0F3-B51D9FBD1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4E6C8-1AAB-0642-AE7C-FCF40F08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8EF91-8AFF-DECC-73F9-14F0062A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D925-6101-BE7F-5EE0-A9515F5A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8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5587-A535-D822-11A8-8BA9444F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20755-C33D-EA71-A641-B9A52AEB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C80DE-C03D-13B6-8E93-7AA48FFDE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E4E5BE-BED0-E66B-936E-485DEBD9D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0355D-5E66-E59A-C600-7C0127524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13C76-93DE-0B5A-AF5E-8887DDA7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01CE2-AF77-773C-8560-84C16DC9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86FB0-530D-2A99-EC10-9C8B1B9E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3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DA6A-0DF4-89DC-DDE9-7B438502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2CE0F-76EE-27DB-9C23-53591B69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F5D81-E910-733A-5079-A35C3965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C7A50-BBD9-AF7A-B8DB-D6F02550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4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C8AB1-0483-C5C3-8035-2F2546E9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7B981-521D-E086-38D9-0890BDEF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AB198-1B32-D193-55CF-79370E4D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2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5F44-3455-0B99-1B87-DDB2B61C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ECFF6-57B1-E941-8212-C9928AA08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539B3-2547-16E3-EFC3-751A9E1B0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D7EA0-E5A9-A22A-FBEB-63B00100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4E92A-4E2A-BA05-D2B2-5162C4BD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32F7F-5968-2ED3-1CBE-29F92287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0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F0CE-5CA1-4B6C-8199-D7D47C05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52668-E2FE-ED93-C0DD-085943E77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6222D-AC83-278A-E8E8-5874316A1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1E214-C8D0-22F3-9AA7-42C641D3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3182D-54DF-F450-A9B8-A9A946EB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52F3C-771A-8AA5-19DB-56C27D6F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78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7F33-24C1-82F3-EFA5-93E057F1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34CCE-405A-AF63-6D5C-672AFCF0E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8C94-71AC-7182-0209-D855BA7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6FDFE-62B0-87CB-2571-03F17634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5139-8A7A-55FA-820A-175FE8E5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4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9BA14-0818-3865-B8A1-A846F3C71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0784C-2A1B-E403-2D9D-92398EA92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72B1-D8C8-620D-F90F-B466232F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571A1-9576-AA3D-F35E-31E375C2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4247B-C09C-B37C-9E77-EAE23A11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5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7072D-303F-8AE3-E76D-8E4B4E42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1B12-5DA6-2887-4FAB-57DA6B344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A925-DD63-E522-7696-9D7CE295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83C59-7E8A-0E4C-9B58-CDDC820F40F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64C49-ADFE-FC21-479C-60DE01BB6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23B8-58CE-63BC-72DD-178BF260D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58823-3780-B444-BB63-1FABDFBCB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1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B213-9F9B-9AC1-8656-4F9C69E17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Moseq 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761F2-A9FD-85F3-C95F-2005D07546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Mohan Yang</a:t>
            </a:r>
          </a:p>
        </p:txBody>
      </p:sp>
    </p:spTree>
    <p:extLst>
      <p:ext uri="{BB962C8B-B14F-4D97-AF65-F5344CB8AC3E}">
        <p14:creationId xmlns:p14="http://schemas.microsoft.com/office/powerpoint/2010/main" val="144271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B0C4-9D97-86DF-E88F-468D84B8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46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Steve’s Ketamine </a:t>
            </a:r>
            <a:br>
              <a:rPr lang="en-US" sz="4000" dirty="0"/>
            </a:br>
            <a:r>
              <a:rPr lang="en-US" sz="4000" dirty="0"/>
              <a:t>Data Summary</a:t>
            </a:r>
          </a:p>
        </p:txBody>
      </p:sp>
      <p:pic>
        <p:nvPicPr>
          <p:cNvPr id="15" name="Content Placeholder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B238B88-618D-AE13-F4AC-10D4FE5BE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31" t="9203" r="7945" b="9569"/>
          <a:stretch>
            <a:fillRect/>
          </a:stretch>
        </p:blipFill>
        <p:spPr>
          <a:xfrm>
            <a:off x="4877320" y="470647"/>
            <a:ext cx="7127678" cy="6022228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3F796A-6766-50F7-2934-1C9AB9AE61DF}"/>
              </a:ext>
            </a:extLst>
          </p:cNvPr>
          <p:cNvSpPr txBox="1"/>
          <p:nvPr/>
        </p:nvSpPr>
        <p:spPr>
          <a:xfrm>
            <a:off x="838200" y="2491627"/>
            <a:ext cx="38951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of 519 Recorded Sessions (Approximate 6TB of data in total)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24 different treatment groups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figure on the right shows the Behavioral Summary (Fingerprints) </a:t>
            </a:r>
          </a:p>
        </p:txBody>
      </p:sp>
    </p:spTree>
    <p:extLst>
      <p:ext uri="{BB962C8B-B14F-4D97-AF65-F5344CB8AC3E}">
        <p14:creationId xmlns:p14="http://schemas.microsoft.com/office/powerpoint/2010/main" val="330612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16E4-1D78-9C50-0D34-3EF92B1F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Fitting PCA </a:t>
            </a:r>
          </a:p>
        </p:txBody>
      </p:sp>
      <p:pic>
        <p:nvPicPr>
          <p:cNvPr id="5" name="Content Placeholder 4" descr="A graph with a blue line&#10;&#10;AI-generated content may be incorrect.">
            <a:extLst>
              <a:ext uri="{FF2B5EF4-FFF2-40B4-BE49-F238E27FC236}">
                <a16:creationId xmlns:a16="http://schemas.microsoft.com/office/drawing/2014/main" id="{8982490F-3E15-C91E-21BF-AE3F1DF24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73493"/>
            <a:ext cx="4481457" cy="2987638"/>
          </a:xfrm>
        </p:spPr>
      </p:pic>
      <p:pic>
        <p:nvPicPr>
          <p:cNvPr id="7" name="Picture 6" descr="A close-up of a grey background&#10;&#10;AI-generated content may be incorrect.">
            <a:extLst>
              <a:ext uri="{FF2B5EF4-FFF2-40B4-BE49-F238E27FC236}">
                <a16:creationId xmlns:a16="http://schemas.microsoft.com/office/drawing/2014/main" id="{72B86C5A-D1E0-A250-A09A-F8B863790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148" y="3369523"/>
            <a:ext cx="3488477" cy="3488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EE7FBD-1F73-4FB3-E674-F33C8EE15F3A}"/>
              </a:ext>
            </a:extLst>
          </p:cNvPr>
          <p:cNvSpPr txBox="1"/>
          <p:nvPr/>
        </p:nvSpPr>
        <p:spPr>
          <a:xfrm>
            <a:off x="838200" y="1690688"/>
            <a:ext cx="10942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13 Principal Components in Steve’s recorded data will explain 90% of the variation.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 the AR-HMM model fitting, I have tuned the parameters of number of PCs to 13 in order to reach 90% explained variation.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035B19-D39B-0899-9A60-B3DF7C8CF9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83"/>
          <a:stretch>
            <a:fillRect/>
          </a:stretch>
        </p:blipFill>
        <p:spPr>
          <a:xfrm>
            <a:off x="838200" y="3057039"/>
            <a:ext cx="9823897" cy="25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1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BBA0-0FE1-398F-3873-95B50BDA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Maximum Syllable setting</a:t>
            </a:r>
          </a:p>
        </p:txBody>
      </p:sp>
      <p:pic>
        <p:nvPicPr>
          <p:cNvPr id="5" name="Content Placeholder 4" descr="A graph with a blue line&#10;&#10;AI-generated content may be incorrect.">
            <a:extLst>
              <a:ext uri="{FF2B5EF4-FFF2-40B4-BE49-F238E27FC236}">
                <a16:creationId xmlns:a16="http://schemas.microsoft.com/office/drawing/2014/main" id="{BF06380A-031A-D3F8-D377-613796615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0356"/>
            <a:ext cx="5486400" cy="3657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7D9405-D943-C51A-B0FC-C592FAB4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7606"/>
            <a:ext cx="8566532" cy="2489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622E3-D993-D3FC-7133-56635E4FFCCC}"/>
              </a:ext>
            </a:extLst>
          </p:cNvPr>
          <p:cNvSpPr txBox="1"/>
          <p:nvPr/>
        </p:nvSpPr>
        <p:spPr>
          <a:xfrm>
            <a:off x="6475228" y="2700669"/>
            <a:ext cx="44125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the previous 100 maximum states (syllables), I set the parameter of maximum states to 60 for the AR-HMM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model is trained, it turns out that 49 syllables are enough to explain 99% of the variation for all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took 7 hours to train the model</a:t>
            </a:r>
          </a:p>
        </p:txBody>
      </p:sp>
    </p:spTree>
    <p:extLst>
      <p:ext uri="{BB962C8B-B14F-4D97-AF65-F5344CB8AC3E}">
        <p14:creationId xmlns:p14="http://schemas.microsoft.com/office/powerpoint/2010/main" val="40300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FEAD-405E-A57E-5381-1F05440C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Usage </a:t>
            </a:r>
          </a:p>
        </p:txBody>
      </p:sp>
      <p:pic>
        <p:nvPicPr>
          <p:cNvPr id="5" name="Content Placeholder 4" descr="A graph with red dots&#10;&#10;AI-generated content may be incorrect.">
            <a:extLst>
              <a:ext uri="{FF2B5EF4-FFF2-40B4-BE49-F238E27FC236}">
                <a16:creationId xmlns:a16="http://schemas.microsoft.com/office/drawing/2014/main" id="{662D37BB-1598-C0F8-650D-B81883A6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86112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67D1A0-950C-9395-9738-52A5EEF4404A}"/>
              </a:ext>
            </a:extLst>
          </p:cNvPr>
          <p:cNvSpPr txBox="1"/>
          <p:nvPr/>
        </p:nvSpPr>
        <p:spPr>
          <a:xfrm>
            <a:off x="8118681" y="1701432"/>
            <a:ext cx="33866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dataset, the syllable statistic in </a:t>
            </a:r>
            <a:r>
              <a:rPr lang="en-US" dirty="0" err="1"/>
              <a:t>moseq</a:t>
            </a:r>
            <a:r>
              <a:rPr lang="en-US" dirty="0"/>
              <a:t> pipeline takes a long time to compute and visualize.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facing trouble with the interactive widgets provided in </a:t>
            </a:r>
            <a:r>
              <a:rPr lang="en-US" dirty="0" err="1"/>
              <a:t>moseq</a:t>
            </a:r>
            <a:r>
              <a:rPr lang="en-US" dirty="0"/>
              <a:t> not responding.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the raw data </a:t>
            </a:r>
            <a:r>
              <a:rPr lang="en-US" dirty="0" err="1"/>
              <a:t>stats_df.scv</a:t>
            </a:r>
            <a:r>
              <a:rPr lang="en-US" dirty="0"/>
              <a:t> to calculate this plot ourselves.</a:t>
            </a:r>
          </a:p>
        </p:txBody>
      </p:sp>
    </p:spTree>
    <p:extLst>
      <p:ext uri="{BB962C8B-B14F-4D97-AF65-F5344CB8AC3E}">
        <p14:creationId xmlns:p14="http://schemas.microsoft.com/office/powerpoint/2010/main" val="268334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2DE0-D3AE-31D9-D3B4-72B57C29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Calculate Syllable Usage manually from </a:t>
            </a:r>
            <a:r>
              <a:rPr lang="en-US" sz="4000" dirty="0" err="1"/>
              <a:t>stats_df</a:t>
            </a:r>
            <a:endParaRPr lang="en-US" sz="4000" dirty="0"/>
          </a:p>
        </p:txBody>
      </p:sp>
      <p:pic>
        <p:nvPicPr>
          <p:cNvPr id="5" name="Content Placeholder 4" descr="A screenshot of a table with numbers&#10;&#10;AI-generated content may be incorrect.">
            <a:extLst>
              <a:ext uri="{FF2B5EF4-FFF2-40B4-BE49-F238E27FC236}">
                <a16:creationId xmlns:a16="http://schemas.microsoft.com/office/drawing/2014/main" id="{C2AA80C4-8AD6-5C27-C84C-7FE21A403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486"/>
          <a:stretch>
            <a:fillRect/>
          </a:stretch>
        </p:blipFill>
        <p:spPr>
          <a:xfrm>
            <a:off x="1008321" y="1690688"/>
            <a:ext cx="4652460" cy="457387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3947B2-32DD-3660-D207-BC5BDBDE6CA0}"/>
              </a:ext>
            </a:extLst>
          </p:cNvPr>
          <p:cNvSpPr txBox="1"/>
          <p:nvPr/>
        </p:nvSpPr>
        <p:spPr>
          <a:xfrm>
            <a:off x="6177516" y="1690688"/>
            <a:ext cx="50061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row represents a recorded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Eg</a:t>
            </a:r>
            <a:r>
              <a:rPr lang="en-US" dirty="0"/>
              <a:t>: The first row represents the first session recorded for h_24 group, and it’s usage on syllable 0 is 13%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group by the “syllable” and “group” columns to obtain the mean and standard deviation of the usage for each syllable per treatment group.</a:t>
            </a:r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B2FEB500-ABA7-C2EC-2371-0FBA280CC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37" y="4869916"/>
            <a:ext cx="5006163" cy="5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1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04CCB-F589-5A9A-A46A-FE39BC71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Reproduced similar syllable usage visualization</a:t>
            </a:r>
          </a:p>
        </p:txBody>
      </p:sp>
      <p:pic>
        <p:nvPicPr>
          <p:cNvPr id="17" name="Picture 16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89CD8CC6-B6A9-8A4E-490C-DBBD597F4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7212"/>
            <a:ext cx="9942200" cy="42394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B6DBC7-5335-F7A5-669B-EFF0229BBCE2}"/>
              </a:ext>
            </a:extLst>
          </p:cNvPr>
          <p:cNvSpPr txBox="1"/>
          <p:nvPr/>
        </p:nvSpPr>
        <p:spPr>
          <a:xfrm>
            <a:off x="838200" y="1456883"/>
            <a:ext cx="9672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pandas and matplotlib, I have reproduced this plot from </a:t>
            </a:r>
            <a:r>
              <a:rPr lang="en-US" dirty="0" err="1"/>
              <a:t>stats_df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using the standard error of the syllable usage, we can also conduct hypothesis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Question: What are the groups of interest to compare with? I can reconstruct this plot with different groups.</a:t>
            </a:r>
          </a:p>
        </p:txBody>
      </p:sp>
    </p:spTree>
    <p:extLst>
      <p:ext uri="{BB962C8B-B14F-4D97-AF65-F5344CB8AC3E}">
        <p14:creationId xmlns:p14="http://schemas.microsoft.com/office/powerpoint/2010/main" val="217586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AE0C-1F59-D420-70D4-A83ABD55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Further Work </a:t>
            </a:r>
            <a:br>
              <a:rPr lang="en-US" sz="4000" dirty="0"/>
            </a:br>
            <a:r>
              <a:rPr lang="en-US" sz="2000" dirty="0"/>
              <a:t>Manually interpret each syllable (49 in total) from crowd movie</a:t>
            </a:r>
            <a:endParaRPr lang="en-US" sz="4000" dirty="0"/>
          </a:p>
        </p:txBody>
      </p:sp>
      <p:pic>
        <p:nvPicPr>
          <p:cNvPr id="6" name="syllable_sorted-id-00_(usage)_original-id-19">
            <a:hlinkClick r:id="" action="ppaction://media"/>
            <a:extLst>
              <a:ext uri="{FF2B5EF4-FFF2-40B4-BE49-F238E27FC236}">
                <a16:creationId xmlns:a16="http://schemas.microsoft.com/office/drawing/2014/main" id="{2F526CA1-5590-9447-8BC6-3DAF4289DA1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" y="2392638"/>
            <a:ext cx="3593252" cy="3593252"/>
          </a:xfrm>
        </p:spPr>
      </p:pic>
      <p:pic>
        <p:nvPicPr>
          <p:cNvPr id="7" name="syllable_sorted-id-01_(usage)_original-id-56">
            <a:hlinkClick r:id="" action="ppaction://media"/>
            <a:extLst>
              <a:ext uri="{FF2B5EF4-FFF2-40B4-BE49-F238E27FC236}">
                <a16:creationId xmlns:a16="http://schemas.microsoft.com/office/drawing/2014/main" id="{14C860D0-1079-A29A-6949-292E934B485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528713" y="2392638"/>
            <a:ext cx="3593252" cy="3593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3E91EF-045A-ACDD-807A-0867CB3CB2EA}"/>
              </a:ext>
            </a:extLst>
          </p:cNvPr>
          <p:cNvSpPr txBox="1"/>
          <p:nvPr/>
        </p:nvSpPr>
        <p:spPr>
          <a:xfrm>
            <a:off x="838200" y="1775637"/>
            <a:ext cx="1886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Syllable 0 (rest?):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F42A2-6D74-8273-2C43-67A8AF15E27C}"/>
              </a:ext>
            </a:extLst>
          </p:cNvPr>
          <p:cNvSpPr txBox="1"/>
          <p:nvPr/>
        </p:nvSpPr>
        <p:spPr>
          <a:xfrm>
            <a:off x="5492020" y="1775637"/>
            <a:ext cx="120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Syllable 1:</a:t>
            </a:r>
          </a:p>
        </p:txBody>
      </p:sp>
    </p:spTree>
    <p:extLst>
      <p:ext uri="{BB962C8B-B14F-4D97-AF65-F5344CB8AC3E}">
        <p14:creationId xmlns:p14="http://schemas.microsoft.com/office/powerpoint/2010/main" val="26760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342</Words>
  <Application>Microsoft Macintosh PowerPoint</Application>
  <PresentationFormat>Widescreen</PresentationFormat>
  <Paragraphs>37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Moseq Progress Report</vt:lpstr>
      <vt:lpstr>Steve’s Ketamine  Data Summary</vt:lpstr>
      <vt:lpstr>Fitting PCA </vt:lpstr>
      <vt:lpstr>Maximum Syllable setting</vt:lpstr>
      <vt:lpstr>Syllable Usage </vt:lpstr>
      <vt:lpstr>Calculate Syllable Usage manually from stats_df</vt:lpstr>
      <vt:lpstr>Reproduced similar syllable usage visualization</vt:lpstr>
      <vt:lpstr>Further Work  Manually interpret each syllable (49 in total) from crowd movie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26</cp:revision>
  <dcterms:created xsi:type="dcterms:W3CDTF">2025-05-30T05:10:16Z</dcterms:created>
  <dcterms:modified xsi:type="dcterms:W3CDTF">2025-05-30T17:59:15Z</dcterms:modified>
</cp:coreProperties>
</file>