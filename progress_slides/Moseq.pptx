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6"/>
    <p:restoredTop sz="94517"/>
  </p:normalViewPr>
  <p:slideViewPr>
    <p:cSldViewPr snapToGrid="0">
      <p:cViewPr>
        <p:scale>
          <a:sx n="104" d="100"/>
          <a:sy n="104" d="100"/>
        </p:scale>
        <p:origin x="-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F1BB4-47D1-C84F-8AC1-E5826F16095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88226-B876-3345-8149-10A9A68E7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6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88226-B876-3345-8149-10A9A68E7E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31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5DD0-4861-3DD9-0787-3FDC68968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F0924-EF50-DF08-2B6D-D14321AD0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86AC5-BC03-0100-B611-DFA167AE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A08A0-20AE-A1F0-C792-A20DF9CA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D4DC0-72AE-3A98-ED24-661B02DB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4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1D35-028C-9479-F6CB-0D9944071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6608C-B27A-53F5-0DD8-922D1D70B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3F492-444F-3A83-D886-582C031F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F6ACE-825E-C079-6A7A-5F041DEF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415AC-C5E1-FCD9-532B-FDFACEDD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4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9DA8-F71F-C733-A455-345883ABA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2FCC3-81F1-E330-0CC3-9BCB03974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1DB52-9EAB-26ED-5E03-8003C72E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D1BE4-A7A3-20B1-DD4E-B19E7EBB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0D890-D0F3-8D1D-BDF3-538A293D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9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45F6-4403-2E05-240F-F6D0C23C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34019-36CF-4840-62CE-6A65BD145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446FA-D2A2-53CC-BFD0-FA2F453DE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60C12-75EB-83C8-0F79-2B4F1FCE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F5346-C41B-3FCC-B399-92F10F5E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988F4-D675-023D-41F9-A11E6AF3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8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CF13-810D-273C-AADD-6E3E5AC6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FF36-71A2-36E6-EC9D-8E800DDFD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477E4-3846-1855-088F-37D4F0808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87D07F-F0BF-BED7-C968-123186375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0FA72-F419-2D08-E070-12974E29D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08975F-CC25-6FA5-42C1-7D908687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F4E137-0262-5012-93F5-16AF75A5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D8F75-C010-AA88-8FAD-66B5D356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4DF9-9D34-B14B-2843-85835655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8DD07-AC73-0781-FDFA-213AA940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C38AF-3038-7923-C63D-3AEAA275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CD848-3A91-760C-1196-CC5D194A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1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510E8-3C86-B7A9-C23D-2C3A0A088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11610-B3CD-B724-24FB-ECD8BF8A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B00CE-7B82-4452-32C5-2A815E04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3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C6F0-A040-A99A-F706-D8295F0AE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AA556-CD98-AA00-01F7-DDDAEED83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E45E8-12E3-5A68-4920-50219D718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2D20D-E57A-9605-1411-536B28DE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9586E-FFF7-23A7-5B91-D7FF9E90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ECE91-8DE7-269C-622D-A092899E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4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BFA2-90A2-E624-A62D-AE08E501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C8A52-9275-33BB-7CBB-EC4212B07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4C939-25D5-8C8C-825C-C08B723E2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66E36-0E58-2277-B9DD-C8A67282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6C578-B38A-26CC-2503-0A802B64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1E9D3-FB80-F6A1-062A-E6420453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9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08E0-B58E-75C2-C348-E926A0C6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9E6F8-891E-6CAD-8A22-348D9BEF6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9C0E1-95CE-A532-D236-6C4661A7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AC3C-004F-0237-2CEB-0EE7CC62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1C0C0-8357-0FBF-AA41-1F63D723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9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274F8-1C90-5A50-2F4E-12566644D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F0B5F-27CE-17E8-533A-93EE704B0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DECF2-6EDA-9C96-EE31-3A5DB313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09FA7-51E1-C5AA-4895-F20E97CF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842C3-B030-731A-26AB-064513E8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8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77098-B5DF-D0EA-E93E-E48C41FB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BE869-80D9-9ACE-799D-FF566CFD4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1B2F9-AA7C-2FEE-EA9D-B66129CBB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DD3DE-9D17-F448-B2CC-255746E7BA0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29BCF-DE6A-5B9A-0811-3BB799FDA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19CD6-A465-C87C-9F2E-5ED2C0A02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19DAB-8B04-8747-BE9D-967E0531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0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4A6F-EF4B-B1E5-8D04-08C52DC78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Moseq 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56D48-8066-B658-21CF-D5DFA3270A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Mohan Yang</a:t>
            </a:r>
          </a:p>
        </p:txBody>
      </p:sp>
    </p:spTree>
    <p:extLst>
      <p:ext uri="{BB962C8B-B14F-4D97-AF65-F5344CB8AC3E}">
        <p14:creationId xmlns:p14="http://schemas.microsoft.com/office/powerpoint/2010/main" val="317041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075C-2C58-511B-5406-1F3F3BC2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pic>
        <p:nvPicPr>
          <p:cNvPr id="5" name="Content Placeholder 4" descr="A diagram of a dog in a cylinder&#10;&#10;AI-generated content may be incorrect.">
            <a:extLst>
              <a:ext uri="{FF2B5EF4-FFF2-40B4-BE49-F238E27FC236}">
                <a16:creationId xmlns:a16="http://schemas.microsoft.com/office/drawing/2014/main" id="{F4063DAE-AEE8-9BCB-549B-4D7C157AD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298" y="4150156"/>
            <a:ext cx="9209567" cy="27078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6EE84-5DE4-B2C9-A0E2-3AA45E397731}"/>
              </a:ext>
            </a:extLst>
          </p:cNvPr>
          <p:cNvSpPr txBox="1"/>
          <p:nvPr/>
        </p:nvSpPr>
        <p:spPr>
          <a:xfrm>
            <a:off x="838200" y="1569685"/>
            <a:ext cx="105156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Traditional identification of behavior:</a:t>
            </a:r>
          </a:p>
          <a:p>
            <a:pPr lvl="1"/>
            <a:r>
              <a:rPr lang="en-US" sz="1400" dirty="0"/>
              <a:t>Behavioral modules (stereotyped units of behavior) were historically identified manually through human observation. This method is labor-intensive and subjective, lacking scalability and standardization.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Need for systematic analysis:</a:t>
            </a:r>
          </a:p>
          <a:p>
            <a:pPr lvl="1"/>
            <a:r>
              <a:rPr lang="en-US" sz="1400" dirty="0"/>
              <a:t>Automated, scalable methods are necessary to reveal the structure and transitions of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MoSeq's contribution:</a:t>
            </a:r>
          </a:p>
          <a:p>
            <a:pPr lvl="1"/>
            <a:r>
              <a:rPr lang="en-US" sz="1400" dirty="0"/>
              <a:t>Motion sequencing (MoSeq) is a computational framework that automatically identifies behavioral modules in an unsupervised manner. It segments continuous mouse behavior into discrete, reusable modules (syllables) and models transitions between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8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F445-37AB-9A0A-8A2C-9BF1FAE5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Extracted Video using Moseq</a:t>
            </a:r>
          </a:p>
        </p:txBody>
      </p:sp>
      <p:pic>
        <p:nvPicPr>
          <p:cNvPr id="3" name="amphetamine_example_1.mov">
            <a:hlinkClick r:id="" action="ppaction://media"/>
            <a:extLst>
              <a:ext uri="{FF2B5EF4-FFF2-40B4-BE49-F238E27FC236}">
                <a16:creationId xmlns:a16="http://schemas.microsoft.com/office/drawing/2014/main" id="{4C0EAECC-954D-A772-97E6-DF5FEBF4D9B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44640" y="1941990"/>
            <a:ext cx="4424680" cy="435947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5918C4-34F8-5314-A07F-AB40FABE918D}"/>
              </a:ext>
            </a:extLst>
          </p:cNvPr>
          <p:cNvSpPr txBox="1"/>
          <p:nvPr/>
        </p:nvSpPr>
        <p:spPr>
          <a:xfrm>
            <a:off x="838200" y="1941990"/>
            <a:ext cx="5257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Pre-trained Flip Classifier is used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to guarantee that the mouse is always pointed to the right after cropping and rotationally aligning mice in the depth videos. </a:t>
            </a:r>
            <a:r>
              <a:rPr lang="en-US" dirty="0"/>
              <a:t> (See the </a:t>
            </a:r>
            <a:r>
              <a:rPr lang="en-US" dirty="0" err="1"/>
              <a:t>upleft</a:t>
            </a:r>
            <a:r>
              <a:rPr lang="en-US" dirty="0"/>
              <a:t> corner)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Parameters such as floor depth range, mouse height, </a:t>
            </a:r>
            <a:r>
              <a:rPr lang="en-US" dirty="0" err="1"/>
              <a:t>etc</a:t>
            </a:r>
            <a:r>
              <a:rPr lang="en-US" dirty="0"/>
              <a:t>, can be adjusted to reach better extraction quality.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8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C24D-E4F3-FFF3-8F48-46A4592C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38728-8055-BAAB-C9BB-1D73CAC75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PCA is performed to learn 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a low-dimensional representation of mouse pose for each frame.</a:t>
            </a:r>
          </a:p>
          <a:p>
            <a:r>
              <a:rPr lang="en-US" sz="1800" dirty="0">
                <a:solidFill>
                  <a:srgbClr val="000000"/>
                </a:solidFill>
              </a:rPr>
              <a:t>The top 10 principal components (default) are used to train the AR-HMM model.</a:t>
            </a:r>
            <a:endParaRPr lang="en-US" sz="1800" dirty="0"/>
          </a:p>
        </p:txBody>
      </p:sp>
      <p:pic>
        <p:nvPicPr>
          <p:cNvPr id="5" name="Picture 4" descr="A group of ovals on a gray background&#10;&#10;AI-generated content may be incorrect.">
            <a:extLst>
              <a:ext uri="{FF2B5EF4-FFF2-40B4-BE49-F238E27FC236}">
                <a16:creationId xmlns:a16="http://schemas.microsoft.com/office/drawing/2014/main" id="{A3798165-4DA4-B8D9-B6E5-79B6EEFEA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84" y="2870199"/>
            <a:ext cx="3173506" cy="3173506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88F97FE3-6026-00FE-5E82-2E5F9AD51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11" y="2925014"/>
            <a:ext cx="4623892" cy="311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54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BEBB-5D62-3817-7868-34806D22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AR-HMM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7B7BA-AA99-D0EB-651C-1538C558F902}"/>
              </a:ext>
            </a:extLst>
          </p:cNvPr>
          <p:cNvSpPr txBox="1"/>
          <p:nvPr/>
        </p:nvSpPr>
        <p:spPr>
          <a:xfrm>
            <a:off x="812655" y="1669623"/>
            <a:ext cx="874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Input: 3D pose data from depth camera over time: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52226B-725F-7A5C-6715-4C640BE9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957" y="1642829"/>
            <a:ext cx="4829362" cy="3920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3116485-F060-842C-CEBD-CAF25EEE6FA3}"/>
              </a:ext>
            </a:extLst>
          </p:cNvPr>
          <p:cNvSpPr txBox="1"/>
          <p:nvPr/>
        </p:nvSpPr>
        <p:spPr>
          <a:xfrm>
            <a:off x="838199" y="2200293"/>
            <a:ext cx="4541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frame (y) is assigned a hidden state </a:t>
            </a:r>
          </a:p>
        </p:txBody>
      </p:sp>
      <p:pic>
        <p:nvPicPr>
          <p:cNvPr id="20" name="Picture 19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5AFC6242-1C78-6BB6-E5CC-AA6436684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72" y="2255679"/>
            <a:ext cx="1742888" cy="2585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68A4827-F0D1-3F05-42C4-17078C849A2D}"/>
              </a:ext>
            </a:extLst>
          </p:cNvPr>
          <p:cNvSpPr txBox="1"/>
          <p:nvPr/>
        </p:nvSpPr>
        <p:spPr>
          <a:xfrm>
            <a:off x="7037414" y="2200293"/>
            <a:ext cx="374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representing the discrete behavioral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BF620E-2173-4632-D6EC-B83C9713057A}"/>
              </a:ext>
            </a:extLst>
          </p:cNvPr>
          <p:cNvSpPr txBox="1"/>
          <p:nvPr/>
        </p:nvSpPr>
        <p:spPr>
          <a:xfrm>
            <a:off x="810914" y="3038041"/>
            <a:ext cx="1382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</a:t>
            </a:r>
          </a:p>
        </p:txBody>
      </p:sp>
      <p:pic>
        <p:nvPicPr>
          <p:cNvPr id="24" name="Picture 23" descr="A black and white symbol&#10;&#10;AI-generated content may be incorrect.">
            <a:extLst>
              <a:ext uri="{FF2B5EF4-FFF2-40B4-BE49-F238E27FC236}">
                <a16:creationId xmlns:a16="http://schemas.microsoft.com/office/drawing/2014/main" id="{9731919F-012C-A2F5-B6CE-4D6EDD84D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776" y="3086611"/>
            <a:ext cx="667739" cy="2630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5B9119-2BDB-E622-65F2-EF32DE6D0E47}"/>
              </a:ext>
            </a:extLst>
          </p:cNvPr>
          <p:cNvSpPr txBox="1"/>
          <p:nvPr/>
        </p:nvSpPr>
        <p:spPr>
          <a:xfrm>
            <a:off x="2845513" y="3038041"/>
            <a:ext cx="5682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, there exists a corresponding autoregressive parameter.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E2BC01-9FA2-E34C-EF6E-E5B444EE5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382" y="3358922"/>
            <a:ext cx="4191285" cy="41431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BFEA1FA-0FC0-094E-950A-E25219BE5292}"/>
              </a:ext>
            </a:extLst>
          </p:cNvPr>
          <p:cNvSpPr txBox="1"/>
          <p:nvPr/>
        </p:nvSpPr>
        <p:spPr>
          <a:xfrm>
            <a:off x="810914" y="3782495"/>
            <a:ext cx="851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parameter A</a:t>
            </a:r>
            <a:r>
              <a:rPr lang="en-US" baseline="-25000" dirty="0"/>
              <a:t>k</a:t>
            </a:r>
            <a:r>
              <a:rPr lang="en-US" dirty="0"/>
              <a:t> governs the autoregressive dynamics of the frame where </a:t>
            </a:r>
            <a:r>
              <a:rPr lang="en-US" dirty="0" err="1"/>
              <a:t>z</a:t>
            </a:r>
            <a:r>
              <a:rPr lang="en-US" baseline="-25000" dirty="0" err="1"/>
              <a:t>t</a:t>
            </a:r>
            <a:r>
              <a:rPr lang="en-US" dirty="0"/>
              <a:t> = k.</a:t>
            </a:r>
          </a:p>
        </p:txBody>
      </p:sp>
      <p:pic>
        <p:nvPicPr>
          <p:cNvPr id="31" name="Picture 30" descr="A black letters on a white background&#10;&#10;AI-generated content may be incorrect.">
            <a:extLst>
              <a:ext uri="{FF2B5EF4-FFF2-40B4-BE49-F238E27FC236}">
                <a16:creationId xmlns:a16="http://schemas.microsoft.com/office/drawing/2014/main" id="{220F3973-6A0F-7769-4AC4-6913C8905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206" y="4110354"/>
            <a:ext cx="2000550" cy="369332"/>
          </a:xfrm>
          <a:prstGeom prst="rect">
            <a:avLst/>
          </a:prstGeom>
        </p:spPr>
      </p:pic>
      <p:pic>
        <p:nvPicPr>
          <p:cNvPr id="33" name="Picture 32" descr="A close-up of a graph&#10;&#10;AI-generated content may be incorrect.">
            <a:extLst>
              <a:ext uri="{FF2B5EF4-FFF2-40B4-BE49-F238E27FC236}">
                <a16:creationId xmlns:a16="http://schemas.microsoft.com/office/drawing/2014/main" id="{763D063D-D61C-F2DC-A530-7C29C0D1E5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024" y="4295020"/>
            <a:ext cx="8212931" cy="221433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D77DBA4-1C7D-30A7-BDCF-448182401C78}"/>
              </a:ext>
            </a:extLst>
          </p:cNvPr>
          <p:cNvSpPr txBox="1"/>
          <p:nvPr/>
        </p:nvSpPr>
        <p:spPr>
          <a:xfrm>
            <a:off x="1142999" y="2505266"/>
            <a:ext cx="2452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syllable class at time t.</a:t>
            </a:r>
          </a:p>
        </p:txBody>
      </p:sp>
    </p:spTree>
    <p:extLst>
      <p:ext uri="{BB962C8B-B14F-4D97-AF65-F5344CB8AC3E}">
        <p14:creationId xmlns:p14="http://schemas.microsoft.com/office/powerpoint/2010/main" val="2396167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CFC3-C5A9-1EC7-0FB2-7C893E93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 difference between groups</a:t>
            </a:r>
          </a:p>
        </p:txBody>
      </p:sp>
      <p:pic>
        <p:nvPicPr>
          <p:cNvPr id="5" name="Content Placeholder 4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F8A04594-4820-FADE-0693-D437E713C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840" y="1477327"/>
            <a:ext cx="8285480" cy="48742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F49601-BB5A-7EDA-1B7E-4D1E5B3F5E7A}"/>
              </a:ext>
            </a:extLst>
          </p:cNvPr>
          <p:cNvSpPr txBox="1"/>
          <p:nvPr/>
        </p:nvSpPr>
        <p:spPr>
          <a:xfrm flipH="1">
            <a:off x="8656320" y="1684656"/>
            <a:ext cx="26974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modeling, we can obtain the syllable usage for each treatment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usage of syllable 6 is much higher in amphetamine group comparing to saline group.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 what does syllable 6 represent?</a:t>
            </a:r>
          </a:p>
        </p:txBody>
      </p:sp>
    </p:spTree>
    <p:extLst>
      <p:ext uri="{BB962C8B-B14F-4D97-AF65-F5344CB8AC3E}">
        <p14:creationId xmlns:p14="http://schemas.microsoft.com/office/powerpoint/2010/main" val="249775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51CD-9192-146B-241E-9DF7A627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of each syllable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FECC-9913-F03D-930C-10591581D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959"/>
            <a:ext cx="583692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If we train separate AR-HMM models for each group, the meaning of each syllable becomes arbitrary.</a:t>
            </a:r>
            <a:br>
              <a:rPr lang="en-US" sz="1800" dirty="0"/>
            </a:br>
            <a:r>
              <a:rPr lang="en-US" sz="1800" i="1" dirty="0"/>
              <a:t>(e.g., syllable 1 in the saline group may not correspond to the same behavior as syllable 1 in the amphetamine group)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dirty="0"/>
              <a:t>To ensure that syllables are comparable across groups, we must train a single, shared AR-HMM model on all groups jointly. 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dirty="0"/>
              <a:t>Then we can generate “crowd movies”, which aggregate video clips corresponding to the same syllable across all mice.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  <p:pic>
        <p:nvPicPr>
          <p:cNvPr id="4" name="Syllable6_standup_and_smell.mp4">
            <a:hlinkClick r:id="" action="ppaction://media"/>
            <a:extLst>
              <a:ext uri="{FF2B5EF4-FFF2-40B4-BE49-F238E27FC236}">
                <a16:creationId xmlns:a16="http://schemas.microsoft.com/office/drawing/2014/main" id="{82D57A97-4F68-14B4-2CF1-13FFD15DB9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25640" y="1864995"/>
            <a:ext cx="4627880" cy="4627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457AEC-7342-28ED-5DAB-D12840D8357B}"/>
              </a:ext>
            </a:extLst>
          </p:cNvPr>
          <p:cNvSpPr txBox="1"/>
          <p:nvPr/>
        </p:nvSpPr>
        <p:spPr>
          <a:xfrm>
            <a:off x="6929120" y="1495663"/>
            <a:ext cx="4017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Crowd movie for syllable 6 (stand up?):</a:t>
            </a:r>
          </a:p>
        </p:txBody>
      </p:sp>
    </p:spTree>
    <p:extLst>
      <p:ext uri="{BB962C8B-B14F-4D97-AF65-F5344CB8AC3E}">
        <p14:creationId xmlns:p14="http://schemas.microsoft.com/office/powerpoint/2010/main" val="375095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B141-FD48-75CA-1D00-13FA6E74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Matrix between syllables</a:t>
            </a:r>
          </a:p>
        </p:txBody>
      </p:sp>
      <p:pic>
        <p:nvPicPr>
          <p:cNvPr id="5" name="Content Placeholder 4" descr="A comparison of a number of images&#10;&#10;AI-generated content may be incorrect.">
            <a:extLst>
              <a:ext uri="{FF2B5EF4-FFF2-40B4-BE49-F238E27FC236}">
                <a16:creationId xmlns:a16="http://schemas.microsoft.com/office/drawing/2014/main" id="{26CF43B0-309B-8593-A5A1-32D7CCF9A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734" y="1690688"/>
            <a:ext cx="10584431" cy="4625975"/>
          </a:xfrm>
        </p:spPr>
      </p:pic>
    </p:spTree>
    <p:extLst>
      <p:ext uri="{BB962C8B-B14F-4D97-AF65-F5344CB8AC3E}">
        <p14:creationId xmlns:p14="http://schemas.microsoft.com/office/powerpoint/2010/main" val="1752048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1281FD4A-5254-EA3E-258B-6C62A7E16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768" y="-5127"/>
            <a:ext cx="6842792" cy="6863127"/>
          </a:xfrm>
        </p:spPr>
      </p:pic>
    </p:spTree>
    <p:extLst>
      <p:ext uri="{BB962C8B-B14F-4D97-AF65-F5344CB8AC3E}">
        <p14:creationId xmlns:p14="http://schemas.microsoft.com/office/powerpoint/2010/main" val="3898728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CD98-BF6C-DB1B-8877-AEDE821A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Fingerprint plot using Moseq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354252ED-7419-F7DA-17D1-82EE9E9DE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141" y="1465400"/>
            <a:ext cx="6637879" cy="5392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4BD237-42C2-5A94-91A1-AC50B72DF6AC}"/>
              </a:ext>
            </a:extLst>
          </p:cNvPr>
          <p:cNvSpPr txBox="1"/>
          <p:nvPr/>
        </p:nvSpPr>
        <p:spPr>
          <a:xfrm>
            <a:off x="7121454" y="1684656"/>
            <a:ext cx="40240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Fingerprint plots summarize behavior by showing distributions of MoSeq scalar values and MoSeq syllables.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row represents a session of recorded video.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It is useful for getting a sense of behavior across sessions, mice, and experimental groups, and can reveal general differences across experimental groups.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6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983C-0E7C-43F5-A7F9-2E076CA5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Dendrogram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409F15CC-CB99-690E-DB4D-090C17AC1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5236"/>
            <a:ext cx="10053577" cy="5252481"/>
          </a:xfrm>
        </p:spPr>
      </p:pic>
    </p:spTree>
    <p:extLst>
      <p:ext uri="{BB962C8B-B14F-4D97-AF65-F5344CB8AC3E}">
        <p14:creationId xmlns:p14="http://schemas.microsoft.com/office/powerpoint/2010/main" val="200490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455</Words>
  <Application>Microsoft Macintosh PowerPoint</Application>
  <PresentationFormat>Widescreen</PresentationFormat>
  <Paragraphs>51</Paragraphs>
  <Slides>11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-apple-system</vt:lpstr>
      <vt:lpstr>Aptos</vt:lpstr>
      <vt:lpstr>Aptos Display</vt:lpstr>
      <vt:lpstr>Arial</vt:lpstr>
      <vt:lpstr>Office Theme</vt:lpstr>
      <vt:lpstr>Moseq Progress Report</vt:lpstr>
      <vt:lpstr>Background</vt:lpstr>
      <vt:lpstr>Extracted Video using Moseq</vt:lpstr>
      <vt:lpstr>Fitting PCA</vt:lpstr>
      <vt:lpstr>AR-HMM Model</vt:lpstr>
      <vt:lpstr>Syllable usage difference between groups</vt:lpstr>
      <vt:lpstr>Interpretation of each syllable</vt:lpstr>
      <vt:lpstr>Transition Matrix between syllables</vt:lpstr>
      <vt:lpstr>PowerPoint Presentation</vt:lpstr>
      <vt:lpstr>Fingerprint plot using Moseq</vt:lpstr>
      <vt:lpstr>Syllable Dendrogram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YangMohan</dc:creator>
  <cp:lastModifiedBy>YangMohan</cp:lastModifiedBy>
  <cp:revision>21</cp:revision>
  <dcterms:created xsi:type="dcterms:W3CDTF">2025-04-30T17:48:49Z</dcterms:created>
  <dcterms:modified xsi:type="dcterms:W3CDTF">2025-04-30T21:53:05Z</dcterms:modified>
</cp:coreProperties>
</file>